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3"/>
  </p:notesMasterIdLst>
  <p:handoutMasterIdLst>
    <p:handoutMasterId r:id="rId14"/>
  </p:handoutMasterIdLst>
  <p:sldIdLst>
    <p:sldId id="256" r:id="rId2"/>
    <p:sldId id="289" r:id="rId3"/>
    <p:sldId id="290" r:id="rId4"/>
    <p:sldId id="296" r:id="rId5"/>
    <p:sldId id="375" r:id="rId6"/>
    <p:sldId id="376" r:id="rId7"/>
    <p:sldId id="377" r:id="rId8"/>
    <p:sldId id="388" r:id="rId9"/>
    <p:sldId id="380" r:id="rId10"/>
    <p:sldId id="381" r:id="rId11"/>
    <p:sldId id="288" r:id="rId12"/>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538" autoAdjust="0"/>
    <p:restoredTop sz="95033" autoAdjust="0"/>
  </p:normalViewPr>
  <p:slideViewPr>
    <p:cSldViewPr>
      <p:cViewPr varScale="1">
        <p:scale>
          <a:sx n="124" d="100"/>
          <a:sy n="124" d="100"/>
        </p:scale>
        <p:origin x="186" y="108"/>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19/05/2026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19/05/2026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DCA2C-DC1C-94AC-4B44-E792E810571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3DDFC22-9D5D-07E4-D6DC-4D9F86CC1C7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DFDA27A-7867-5B97-DBC7-5AFE21A3C8C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3521375-3405-AFF1-9827-86123C005F32}"/>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35748841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3.0. CIRCUITS &amp; COMPACT MODELS</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3.0. CIRCUITS &amp; COMPACT MODELS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3.0. CIRCUITS &amp; COMPACT MODELS</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exto simple">
    <p:spTree>
      <p:nvGrpSpPr>
        <p:cNvPr id="1" name=""/>
        <p:cNvGrpSpPr/>
        <p:nvPr/>
      </p:nvGrpSpPr>
      <p:grpSpPr>
        <a:xfrm>
          <a:off x="0" y="0"/>
          <a:ext cx="0" cy="0"/>
          <a:chOff x="0" y="0"/>
          <a:chExt cx="0" cy="0"/>
        </a:xfrm>
      </p:grpSpPr>
      <p:sp>
        <p:nvSpPr>
          <p:cNvPr id="6" name="Rectangle 47"/>
          <p:cNvSpPr/>
          <p:nvPr userDrawn="1"/>
        </p:nvSpPr>
        <p:spPr>
          <a:xfrm>
            <a:off x="608171" y="381001"/>
            <a:ext cx="45731" cy="68349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Título 8"/>
          <p:cNvSpPr>
            <a:spLocks noGrp="1"/>
          </p:cNvSpPr>
          <p:nvPr>
            <p:ph type="title" hasCustomPrompt="1"/>
          </p:nvPr>
        </p:nvSpPr>
        <p:spPr>
          <a:xfrm>
            <a:off x="736652" y="381000"/>
            <a:ext cx="7778317" cy="313782"/>
          </a:xfrm>
        </p:spPr>
        <p:txBody>
          <a:bodyPr>
            <a:normAutofit/>
          </a:bodyPr>
          <a:lstStyle>
            <a:lvl1pPr algn="l">
              <a:defRPr sz="2800" b="1" i="0" baseline="0">
                <a:solidFill>
                  <a:schemeClr val="tx1">
                    <a:lumMod val="65000"/>
                    <a:lumOff val="35000"/>
                  </a:schemeClr>
                </a:solidFill>
                <a:latin typeface="Calibri" panose="020F0502020204030204" pitchFamily="34" charset="0"/>
                <a:ea typeface="Open Sans Extrabold" panose="020B0906030804020204" pitchFamily="34" charset="0"/>
                <a:cs typeface="Calibri" panose="020F0502020204030204" pitchFamily="34" charset="0"/>
              </a:defRPr>
            </a:lvl1pPr>
          </a:lstStyle>
          <a:p>
            <a:r>
              <a:rPr lang="es-ES" dirty="0"/>
              <a:t>TITULO</a:t>
            </a:r>
          </a:p>
        </p:txBody>
      </p:sp>
      <p:sp>
        <p:nvSpPr>
          <p:cNvPr id="13" name="Marcador de texto 12"/>
          <p:cNvSpPr>
            <a:spLocks noGrp="1"/>
          </p:cNvSpPr>
          <p:nvPr>
            <p:ph type="body" sz="quarter" idx="10" hasCustomPrompt="1"/>
          </p:nvPr>
        </p:nvSpPr>
        <p:spPr>
          <a:xfrm>
            <a:off x="608171" y="1295401"/>
            <a:ext cx="11051877" cy="4958137"/>
          </a:xfrm>
        </p:spPr>
        <p:txBody>
          <a:bodyPr>
            <a:normAutofit/>
          </a:bodyPr>
          <a:lstStyle>
            <a:lvl1pPr>
              <a:defRPr sz="2400" baseline="0">
                <a:latin typeface="Calibri" panose="020F0502020204030204" pitchFamily="34" charset="0"/>
                <a:ea typeface="Open Sans Light" panose="020B0306030504020204" pitchFamily="34" charset="0"/>
                <a:cs typeface="Calibri" panose="020F0502020204030204" pitchFamily="34" charset="0"/>
              </a:defRPr>
            </a:lvl1pPr>
            <a:lvl2pPr>
              <a:defRPr sz="1800">
                <a:latin typeface="Calibri" panose="020F0502020204030204" pitchFamily="34" charset="0"/>
                <a:ea typeface="Open Sans Light" panose="020B0306030504020204" pitchFamily="34" charset="0"/>
                <a:cs typeface="Calibri" panose="020F0502020204030204" pitchFamily="34" charset="0"/>
              </a:defRPr>
            </a:lvl2pPr>
            <a:lvl3pPr>
              <a:defRPr sz="1600">
                <a:latin typeface="Calibri" panose="020F0502020204030204" pitchFamily="34" charset="0"/>
                <a:ea typeface="Open Sans Light" panose="020B0306030504020204" pitchFamily="34" charset="0"/>
                <a:cs typeface="Calibri" panose="020F0502020204030204" pitchFamily="34" charset="0"/>
              </a:defRPr>
            </a:lvl3pPr>
            <a:lvl4pPr>
              <a:defRPr sz="1400">
                <a:latin typeface="Calibri" panose="020F0502020204030204" pitchFamily="34" charset="0"/>
                <a:ea typeface="Open Sans Light" panose="020B0306030504020204" pitchFamily="34" charset="0"/>
                <a:cs typeface="Calibri" panose="020F0502020204030204" pitchFamily="34" charset="0"/>
              </a:defRPr>
            </a:lvl4pPr>
            <a:lvl5pPr>
              <a:defRPr sz="1400">
                <a:latin typeface="Calibri" panose="020F0502020204030204" pitchFamily="34" charset="0"/>
                <a:ea typeface="Open Sans Light" panose="020B0306030504020204" pitchFamily="34" charset="0"/>
                <a:cs typeface="Calibri" panose="020F0502020204030204" pitchFamily="34" charset="0"/>
              </a:defRPr>
            </a:lvl5pPr>
          </a:lstStyle>
          <a:p>
            <a:pPr lvl="0"/>
            <a:r>
              <a:rPr lang="es-ES" dirty="0"/>
              <a:t>Texto del contenido</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23" name="Marcador de texto 22"/>
          <p:cNvSpPr>
            <a:spLocks noGrp="1"/>
          </p:cNvSpPr>
          <p:nvPr>
            <p:ph type="body" sz="quarter" idx="11" hasCustomPrompt="1"/>
          </p:nvPr>
        </p:nvSpPr>
        <p:spPr>
          <a:xfrm>
            <a:off x="736652" y="730647"/>
            <a:ext cx="7778317" cy="381000"/>
          </a:xfrm>
        </p:spPr>
        <p:txBody>
          <a:bodyPr>
            <a:noAutofit/>
          </a:bodyPr>
          <a:lstStyle>
            <a:lvl1pPr marL="0" indent="0">
              <a:buNone/>
              <a:defRPr sz="2000">
                <a:latin typeface="Calibri" panose="020F0502020204030204" pitchFamily="34" charset="0"/>
                <a:ea typeface="Open Sans Light" panose="020B0306030504020204" pitchFamily="34" charset="0"/>
                <a:cs typeface="Calibri" panose="020F0502020204030204" pitchFamily="34" charset="0"/>
              </a:defRPr>
            </a:lvl1pPr>
          </a:lstStyle>
          <a:p>
            <a:pPr lvl="0"/>
            <a:r>
              <a:rPr lang="es-ES" dirty="0"/>
              <a:t>Subtítulo del artículo con una explicación corta a modo resumen</a:t>
            </a:r>
          </a:p>
        </p:txBody>
      </p:sp>
      <p:sp>
        <p:nvSpPr>
          <p:cNvPr id="11" name="Date Placeholder 3"/>
          <p:cNvSpPr>
            <a:spLocks noGrp="1"/>
          </p:cNvSpPr>
          <p:nvPr>
            <p:ph type="dt" sz="half" idx="2"/>
          </p:nvPr>
        </p:nvSpPr>
        <p:spPr>
          <a:xfrm>
            <a:off x="609600" y="6387407"/>
            <a:ext cx="1980287" cy="303019"/>
          </a:xfrm>
          <a:prstGeom prst="rect">
            <a:avLst/>
          </a:prstGeom>
        </p:spPr>
        <p:txBody>
          <a:bodyPr vert="horz" lIns="117208" tIns="58604" rIns="117208" bIns="58604" rtlCol="0" anchor="ctr"/>
          <a:lstStyle>
            <a:lvl1pPr algn="l">
              <a:defRPr sz="1200">
                <a:solidFill>
                  <a:schemeClr val="tx1">
                    <a:tint val="75000"/>
                  </a:schemeClr>
                </a:solidFill>
              </a:defRPr>
            </a:lvl1pPr>
          </a:lstStyle>
          <a:p>
            <a:endParaRPr lang="en-US" dirty="0"/>
          </a:p>
        </p:txBody>
      </p:sp>
      <p:sp>
        <p:nvSpPr>
          <p:cNvPr id="12" name="Footer Placeholder 4"/>
          <p:cNvSpPr>
            <a:spLocks noGrp="1"/>
          </p:cNvSpPr>
          <p:nvPr>
            <p:ph type="ftr" sz="quarter" idx="3"/>
          </p:nvPr>
        </p:nvSpPr>
        <p:spPr>
          <a:xfrm>
            <a:off x="2894768" y="6387407"/>
            <a:ext cx="6402465" cy="303019"/>
          </a:xfrm>
          <a:prstGeom prst="rect">
            <a:avLst/>
          </a:prstGeom>
        </p:spPr>
        <p:txBody>
          <a:bodyPr vert="horz" lIns="117208" tIns="58604" rIns="117208" bIns="58604" rtlCol="0" anchor="ctr"/>
          <a:lstStyle>
            <a:lvl1pPr algn="ctr">
              <a:defRPr sz="1200">
                <a:solidFill>
                  <a:schemeClr val="tx1">
                    <a:tint val="75000"/>
                  </a:schemeClr>
                </a:solidFill>
              </a:defRPr>
            </a:lvl1pPr>
          </a:lstStyle>
          <a:p>
            <a:r>
              <a:rPr lang="en-US"/>
              <a:t>LAB 3.0. CIRCUITS &amp; COMPACT MODELS</a:t>
            </a:r>
          </a:p>
        </p:txBody>
      </p:sp>
      <p:sp>
        <p:nvSpPr>
          <p:cNvPr id="14" name="Slide Number Placeholder 5"/>
          <p:cNvSpPr>
            <a:spLocks noGrp="1"/>
          </p:cNvSpPr>
          <p:nvPr>
            <p:ph type="sldNum" sz="quarter" idx="4"/>
          </p:nvPr>
        </p:nvSpPr>
        <p:spPr>
          <a:xfrm>
            <a:off x="11431389" y="6388096"/>
            <a:ext cx="760611" cy="303019"/>
          </a:xfrm>
          <a:prstGeom prst="rect">
            <a:avLst/>
          </a:prstGeom>
          <a:solidFill>
            <a:schemeClr val="bg2"/>
          </a:solidFill>
        </p:spPr>
        <p:txBody>
          <a:bodyPr vert="horz" lIns="117208" tIns="58604" rIns="117208" bIns="58604" rtlCol="0" anchor="ctr"/>
          <a:lstStyle>
            <a:lvl1pPr algn="r">
              <a:defRPr sz="1200">
                <a:solidFill>
                  <a:srgbClr val="FF6309"/>
                </a:solidFill>
              </a:defRPr>
            </a:lvl1pPr>
          </a:lstStyle>
          <a:p>
            <a:fld id="{C2F52289-4012-4053-9770-FE82CEB9514F}" type="slidenum">
              <a:rPr lang="en-US" smtClean="0"/>
              <a:pPr/>
              <a:t>‹Nº›</a:t>
            </a:fld>
            <a:endParaRPr lang="en-US" dirty="0"/>
          </a:p>
        </p:txBody>
      </p:sp>
    </p:spTree>
    <p:extLst>
      <p:ext uri="{BB962C8B-B14F-4D97-AF65-F5344CB8AC3E}">
        <p14:creationId xmlns:p14="http://schemas.microsoft.com/office/powerpoint/2010/main" val="3024640384"/>
      </p:ext>
    </p:extLst>
  </p:cSld>
  <p:clrMapOvr>
    <a:masterClrMapping/>
  </p:clrMapOvr>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8"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3.0. CIRCUITS &amp; COMPACT MODELS</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sv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sv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9213724" cy="505267"/>
          </a:xfrm>
          <a:prstGeom prst="rect">
            <a:avLst/>
          </a:prstGeom>
        </p:spPr>
        <p:txBody>
          <a:bodyPr vert="horz" wrap="square" lIns="0" tIns="12700" rIns="0" bIns="0" rtlCol="0">
            <a:spAutoFit/>
          </a:bodyPr>
          <a:lstStyle/>
          <a:p>
            <a:pPr marL="12700">
              <a:lnSpc>
                <a:spcPct val="100000"/>
              </a:lnSpc>
              <a:spcBef>
                <a:spcPts val="100"/>
              </a:spcBef>
            </a:pPr>
            <a:r>
              <a:rPr lang="es-ES" sz="3200" b="1" dirty="0">
                <a:latin typeface="Lucida Sans"/>
                <a:cs typeface="Lucida Sans"/>
              </a:rPr>
              <a:t>Lab Book 3.0 Circuits and Compact </a:t>
            </a:r>
            <a:r>
              <a:rPr lang="es-ES" sz="3200" b="1" dirty="0" err="1">
                <a:latin typeface="Lucida Sans"/>
                <a:cs typeface="Lucida Sans"/>
              </a:rPr>
              <a:t>Models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a:latin typeface="Arial"/>
                <a:cs typeface="Arial"/>
              </a:rPr>
              <a:t>Student: Manuel Burgos Sánchez y Antonio Leal Martínez </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3.0. CIRCUITS &amp; COMPACT MODELS</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https://github.com/cccanvas-upv/cifoin-lab3.git</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a:solidFill>
                  <a:sysClr val="windowText" lastClr="000000"/>
                </a:solidFill>
              </a:rPr>
              <a:t>CIRCUITS_&amp;_</a:t>
            </a:r>
            <a:r>
              <a:rPr lang="en-US" kern="0" dirty="0" err="1">
                <a:solidFill>
                  <a:sysClr val="windowText" lastClr="000000"/>
                </a:solidFill>
              </a:rPr>
              <a:t>COMPACT_MODELS.ipynb</a:t>
            </a:r>
            <a:r>
              <a:rPr lang="en-US" kern="0" dirty="0">
                <a:solidFill>
                  <a:sysClr val="windowText" lastClr="000000"/>
                </a:solidFill>
              </a:rPr>
              <a:t> </a:t>
            </a:r>
          </a:p>
          <a:p>
            <a:pPr algn="just"/>
            <a:endParaRPr lang="en-US" b="1" i="1" dirty="0"/>
          </a:p>
          <a:p>
            <a:pPr algn="just"/>
            <a:r>
              <a:rPr lang="en-US" b="1" i="1" dirty="0"/>
              <a:t>Devices </a:t>
            </a:r>
            <a:r>
              <a:rPr lang="en-US" i="1" dirty="0"/>
              <a:t>to be studied:</a:t>
            </a:r>
            <a:endParaRPr lang="en-US" b="1" i="1" dirty="0"/>
          </a:p>
          <a:p>
            <a:pPr algn="just"/>
            <a:endParaRPr lang="en-US" sz="2000" b="1" i="1" dirty="0"/>
          </a:p>
          <a:p>
            <a:pPr algn="just"/>
            <a:endParaRPr lang="en-US" sz="2000" kern="0" dirty="0">
              <a:solidFill>
                <a:sysClr val="windowText" lastClr="000000"/>
              </a:solidFill>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8077200" y="5582965"/>
            <a:ext cx="2176237" cy="369332"/>
          </a:xfrm>
          <a:prstGeom prst="rect">
            <a:avLst/>
          </a:prstGeom>
          <a:noFill/>
        </p:spPr>
        <p:txBody>
          <a:bodyPr wrap="none" rtlCol="0">
            <a:spAutoFit/>
          </a:bodyPr>
          <a:lstStyle/>
          <a:p>
            <a:pPr algn="r"/>
            <a:r>
              <a:rPr lang="en-US" b="1" dirty="0"/>
              <a:t>Ring Resonators (RR)</a:t>
            </a:r>
            <a:endParaRPr lang="en-US" dirty="0"/>
          </a:p>
        </p:txBody>
      </p:sp>
      <p:sp>
        <p:nvSpPr>
          <p:cNvPr id="8" name="CuadroTexto 7">
            <a:extLst>
              <a:ext uri="{FF2B5EF4-FFF2-40B4-BE49-F238E27FC236}">
                <a16:creationId xmlns:a16="http://schemas.microsoft.com/office/drawing/2014/main" id="{7336B5D8-2D70-3E7A-336D-AF55EC49DEB8}"/>
              </a:ext>
            </a:extLst>
          </p:cNvPr>
          <p:cNvSpPr txBox="1"/>
          <p:nvPr/>
        </p:nvSpPr>
        <p:spPr>
          <a:xfrm>
            <a:off x="1039582" y="5579058"/>
            <a:ext cx="4176324" cy="369332"/>
          </a:xfrm>
          <a:prstGeom prst="rect">
            <a:avLst/>
          </a:prstGeom>
          <a:noFill/>
        </p:spPr>
        <p:txBody>
          <a:bodyPr wrap="square">
            <a:spAutoFit/>
          </a:bodyPr>
          <a:lstStyle/>
          <a:p>
            <a:pPr algn="ctr"/>
            <a:r>
              <a:rPr lang="en-US" b="1" dirty="0"/>
              <a:t>Mach-Zehnder Interferometer (MZI)</a:t>
            </a:r>
            <a:endParaRPr lang="en-US" dirty="0"/>
          </a:p>
        </p:txBody>
      </p:sp>
      <p:pic>
        <p:nvPicPr>
          <p:cNvPr id="6" name="Imagen 5" descr="Forma, Rectángulo&#10;&#10;El contenido generado por IA puede ser incorrecto.">
            <a:extLst>
              <a:ext uri="{FF2B5EF4-FFF2-40B4-BE49-F238E27FC236}">
                <a16:creationId xmlns:a16="http://schemas.microsoft.com/office/drawing/2014/main" id="{91C2AB39-AF40-7700-840D-38F2C1813CB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428" y="3996612"/>
            <a:ext cx="5240632" cy="1246789"/>
          </a:xfrm>
          <a:prstGeom prst="rect">
            <a:avLst/>
          </a:prstGeom>
        </p:spPr>
      </p:pic>
      <p:pic>
        <p:nvPicPr>
          <p:cNvPr id="14" name="Imagen 13" descr="Imagen que contiene Forma&#10;&#10;El contenido generado por IA puede ser incorrecto.">
            <a:extLst>
              <a:ext uri="{FF2B5EF4-FFF2-40B4-BE49-F238E27FC236}">
                <a16:creationId xmlns:a16="http://schemas.microsoft.com/office/drawing/2014/main" id="{43CD26B4-EB7C-61CA-1BCF-B2AD5F6ED004}"/>
              </a:ext>
            </a:extLst>
          </p:cNvPr>
          <p:cNvPicPr>
            <a:picLocks noChangeAspect="1"/>
          </p:cNvPicPr>
          <p:nvPr/>
        </p:nvPicPr>
        <p:blipFill>
          <a:blip r:embed="rId4" cstate="print">
            <a:extLst>
              <a:ext uri="{28A0092B-C50C-407E-A947-70E740481C1C}">
                <a14:useLocalDpi xmlns:a14="http://schemas.microsoft.com/office/drawing/2010/main" val="0"/>
              </a:ext>
            </a:extLst>
          </a:blip>
          <a:srcRect r="68044"/>
          <a:stretch>
            <a:fillRect/>
          </a:stretch>
        </p:blipFill>
        <p:spPr>
          <a:xfrm>
            <a:off x="6624590" y="3638327"/>
            <a:ext cx="2402774" cy="1900395"/>
          </a:xfrm>
          <a:prstGeom prst="rect">
            <a:avLst/>
          </a:prstGeom>
        </p:spPr>
      </p:pic>
      <p:pic>
        <p:nvPicPr>
          <p:cNvPr id="15" name="Imagen 14" descr="Imagen que contiene Forma&#10;&#10;El contenido generado por IA puede ser incorrecto.">
            <a:extLst>
              <a:ext uri="{FF2B5EF4-FFF2-40B4-BE49-F238E27FC236}">
                <a16:creationId xmlns:a16="http://schemas.microsoft.com/office/drawing/2014/main" id="{B296E22E-7EA4-0FD2-7B98-F6CB5BB97AB9}"/>
              </a:ext>
            </a:extLst>
          </p:cNvPr>
          <p:cNvPicPr>
            <a:picLocks noChangeAspect="1"/>
          </p:cNvPicPr>
          <p:nvPr/>
        </p:nvPicPr>
        <p:blipFill>
          <a:blip r:embed="rId4" cstate="print">
            <a:extLst>
              <a:ext uri="{28A0092B-C50C-407E-A947-70E740481C1C}">
                <a14:useLocalDpi xmlns:a14="http://schemas.microsoft.com/office/drawing/2010/main" val="0"/>
              </a:ext>
            </a:extLst>
          </a:blip>
          <a:srcRect l="67258" r="786"/>
          <a:stretch>
            <a:fillRect/>
          </a:stretch>
        </p:blipFill>
        <p:spPr>
          <a:xfrm>
            <a:off x="9354819" y="3650394"/>
            <a:ext cx="2402774" cy="1900395"/>
          </a:xfrm>
          <a:prstGeom prst="rect">
            <a:avLst/>
          </a:prstGeom>
        </p:spPr>
      </p:pic>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304800" y="111061"/>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#1a – Perfectly balanced MZI</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3.0. CIRCUITS &amp; COMPACT MODELS</a:t>
            </a:r>
            <a:endParaRPr lang="es-ES" spc="-5" dirty="0"/>
          </a:p>
        </p:txBody>
      </p:sp>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D0F8CF3B-B920-DBFC-F825-0C87B51EADA7}"/>
                  </a:ext>
                </a:extLst>
              </p:cNvPr>
              <p:cNvSpPr txBox="1"/>
              <p:nvPr/>
            </p:nvSpPr>
            <p:spPr>
              <a:xfrm>
                <a:off x="6721634" y="689788"/>
                <a:ext cx="5180012" cy="5478423"/>
              </a:xfrm>
              <a:prstGeom prst="rect">
                <a:avLst/>
              </a:prstGeom>
              <a:solidFill>
                <a:schemeClr val="bg1">
                  <a:lumMod val="95000"/>
                </a:schemeClr>
              </a:solidFill>
              <a:ln w="28575">
                <a:solidFill>
                  <a:srgbClr val="E0700D"/>
                </a:solidFill>
              </a:ln>
            </p:spPr>
            <p:txBody>
              <a:bodyPr wrap="square" rtlCol="0">
                <a:spAutoFit/>
              </a:bodyPr>
              <a:lstStyle/>
              <a:p>
                <a:pPr algn="just"/>
                <a:r>
                  <a:rPr lang="es-ES" sz="1400" dirty="0">
                    <a:latin typeface="Times New Roman" panose="02020603050405020304" pitchFamily="18" charset="0"/>
                    <a:cs typeface="Times New Roman" panose="02020603050405020304" pitchFamily="18" charset="0"/>
                  </a:rPr>
                  <a:t>Este primer ejercicio trata de un interferómetro Mach-Zehnder perfectamente balanceado. Esto significa que los dos brazos tienen la misma longitud, por lo que la diferencia de longitud entre ellos es ΔL = 0.</a:t>
                </a:r>
              </a:p>
              <a:p>
                <a:pPr algn="just"/>
                <a:r>
                  <a:rPr lang="es-ES" sz="1400" dirty="0">
                    <a:latin typeface="Times New Roman" panose="02020603050405020304" pitchFamily="18" charset="0"/>
                    <a:cs typeface="Times New Roman" panose="02020603050405020304" pitchFamily="18" charset="0"/>
                  </a:rPr>
                  <a:t>Al no existir diferencia de longitud, tampoco aparece una diferencia de fase dependiente de la longitud de onda. Por esto, la función de transferencia es plana en todo el rango simulado, desde 1500 nm hasta 1600 nm, y no se observa ningún patrón periódico de interferencia.</a:t>
                </a:r>
              </a:p>
              <a:p>
                <a:pPr algn="just"/>
                <a:r>
                  <a:rPr lang="es-ES" sz="1400" dirty="0">
                    <a:latin typeface="Times New Roman" panose="02020603050405020304" pitchFamily="18" charset="0"/>
                    <a:cs typeface="Times New Roman" panose="02020603050405020304" pitchFamily="18" charset="0"/>
                  </a:rPr>
                  <a:t>En la gráfica se observa que, para una señal de entrada en in0, prácticamente toda la potencia se transmite hacia una de las salidas, mientras que la otra queda cancelada. En este caso, |H01|² ≈ 1 y |H00|² ≈ 0. Esto corresponde a que se produce interferencia constructiva en un puerto e interferencia destructiva en el otro.</a:t>
                </a:r>
              </a:p>
              <a:p>
                <a:pPr algn="just"/>
                <a:endParaRPr lang="es-ES" sz="1400" dirty="0">
                  <a:latin typeface="Times New Roman" panose="02020603050405020304" pitchFamily="18" charset="0"/>
                  <a:cs typeface="Times New Roman" panose="02020603050405020304" pitchFamily="18" charset="0"/>
                </a:endParaRPr>
              </a:p>
              <a:p>
                <a:pPr algn="just"/>
                <a:r>
                  <a:rPr lang="es-ES" sz="1400" dirty="0">
                    <a:latin typeface="Times New Roman" panose="02020603050405020304" pitchFamily="18" charset="0"/>
                    <a:cs typeface="Times New Roman" panose="02020603050405020304" pitchFamily="18" charset="0"/>
                  </a:rPr>
                  <a:t>Como la respuesta no presenta oscilaciones espectrales, en este caso balanceado no se puede extraer un FSR. El FSR solo aparece cuando existe una diferencia de longitud entre los brazos del interferómetro.</a:t>
                </a:r>
              </a:p>
              <a:p>
                <a:pPr algn="just"/>
                <a:endParaRPr lang="es-E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La idea </a:t>
                </a:r>
                <a:r>
                  <a:rPr lang="en-US" sz="1400" dirty="0" err="1">
                    <a:latin typeface="Times New Roman" panose="02020603050405020304" pitchFamily="18" charset="0"/>
                    <a:cs typeface="Times New Roman" panose="02020603050405020304" pitchFamily="18" charset="0"/>
                  </a:rPr>
                  <a:t>física</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justificada</a:t>
                </a:r>
                <a:r>
                  <a:rPr lang="en-US" sz="1400" dirty="0">
                    <a:latin typeface="Times New Roman" panose="02020603050405020304" pitchFamily="18" charset="0"/>
                    <a:cs typeface="Times New Roman" panose="02020603050405020304" pitchFamily="18" charset="0"/>
                  </a:rPr>
                  <a:t> es:</a:t>
                </a:r>
              </a:p>
              <a:p>
                <a:r>
                  <a:rPr lang="el-GR" sz="1400" dirty="0">
                    <a:latin typeface="Times New Roman" panose="02020603050405020304" pitchFamily="18" charset="0"/>
                    <a:cs typeface="Times New Roman" panose="02020603050405020304" pitchFamily="18" charset="0"/>
                  </a:rPr>
                  <a:t>ΔL=0 </a:t>
                </a:r>
                <a:endParaRPr lang="es-ES" sz="1400"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left"/>
                    </m:oMathParaPr>
                    <m:oMath xmlns:m="http://schemas.openxmlformats.org/officeDocument/2006/math">
                      <m:r>
                        <m:rPr>
                          <m:sty m:val="p"/>
                        </m:rPr>
                        <a:rPr lang="el-GR" sz="1400" i="0" smtClean="0">
                          <a:latin typeface="Cambria Math" panose="02040503050406030204" pitchFamily="18" charset="0"/>
                        </a:rPr>
                        <m:t>Δϕ</m:t>
                      </m:r>
                      <m:r>
                        <a:rPr lang="el-GR" sz="1400" i="0" smtClean="0">
                          <a:latin typeface="Cambria Math" panose="02040503050406030204" pitchFamily="18" charset="0"/>
                        </a:rPr>
                        <m:t>=</m:t>
                      </m:r>
                      <m:r>
                        <a:rPr lang="el-GR" sz="1400" i="0" smtClean="0">
                          <a:latin typeface="Cambria Math" panose="02040503050406030204" pitchFamily="18" charset="0"/>
                        </a:rPr>
                        <m:t>0</m:t>
                      </m:r>
                    </m:oMath>
                  </m:oMathPara>
                </a14:m>
                <a:endParaRPr lang="es-ES" sz="1400" dirty="0">
                  <a:latin typeface="Times New Roman" panose="02020603050405020304" pitchFamily="18" charset="0"/>
                  <a:cs typeface="Times New Roman" panose="02020603050405020304" pitchFamily="18" charset="0"/>
                </a:endParaRPr>
              </a:p>
              <a:p>
                <a:r>
                  <a:rPr lang="es-ES" sz="1400" dirty="0">
                    <a:latin typeface="Times New Roman" panose="02020603050405020304" pitchFamily="18" charset="0"/>
                    <a:cs typeface="Times New Roman" panose="02020603050405020304" pitchFamily="18" charset="0"/>
                  </a:rPr>
                  <a:t>Por tanto:</a:t>
                </a:r>
              </a:p>
              <a:p>
                <a:r>
                  <a:rPr lang="es-ES" sz="1400" dirty="0">
                    <a:latin typeface="Times New Roman" panose="02020603050405020304" pitchFamily="18" charset="0"/>
                    <a:cs typeface="Times New Roman" panose="02020603050405020304" pitchFamily="18" charset="0"/>
                  </a:rPr>
                  <a:t>∣H00​∣^2=0 </a:t>
                </a:r>
              </a:p>
              <a:p>
                <a:pPr/>
                <a14:m>
                  <m:oMathPara xmlns:m="http://schemas.openxmlformats.org/officeDocument/2006/math">
                    <m:oMathParaPr>
                      <m:jc m:val="left"/>
                    </m:oMathParaPr>
                    <m:oMath xmlns:m="http://schemas.openxmlformats.org/officeDocument/2006/math">
                      <m:r>
                        <a:rPr lang="es-ES" sz="1400" i="0" smtClean="0">
                          <a:latin typeface="Cambria Math" panose="02040503050406030204" pitchFamily="18" charset="0"/>
                        </a:rPr>
                        <m:t>|</m:t>
                      </m:r>
                      <m:r>
                        <m:rPr>
                          <m:sty m:val="p"/>
                        </m:rPr>
                        <a:rPr lang="es-ES" sz="1400" b="0" i="0" smtClean="0">
                          <a:latin typeface="Cambria Math" panose="02040503050406030204" pitchFamily="18" charset="0"/>
                        </a:rPr>
                        <m:t>H</m:t>
                      </m:r>
                      <m:r>
                        <a:rPr lang="es-ES" sz="1400" b="0" i="0" smtClean="0">
                          <a:latin typeface="Cambria Math" panose="02040503050406030204" pitchFamily="18" charset="0"/>
                        </a:rPr>
                        <m:t>01</m:t>
                      </m:r>
                      <m:r>
                        <a:rPr lang="es-ES" sz="1400" b="0" i="0" smtClean="0">
                          <a:latin typeface="Cambria Math" panose="02040503050406030204" pitchFamily="18" charset="0"/>
                        </a:rPr>
                        <m:t>|^</m:t>
                      </m:r>
                      <m:r>
                        <a:rPr lang="es-ES" sz="1400" b="0" i="0" smtClean="0">
                          <a:latin typeface="Cambria Math" panose="02040503050406030204" pitchFamily="18" charset="0"/>
                        </a:rPr>
                        <m:t>2</m:t>
                      </m:r>
                      <m:r>
                        <a:rPr lang="ar-AE" sz="1400" i="0" smtClean="0">
                          <a:latin typeface="Cambria Math" panose="02040503050406030204" pitchFamily="18" charset="0"/>
                        </a:rPr>
                        <m:t>=</m:t>
                      </m:r>
                      <m:r>
                        <a:rPr lang="ar-AE" sz="1400" i="0" smtClean="0">
                          <a:latin typeface="Cambria Math" panose="02040503050406030204" pitchFamily="18" charset="0"/>
                        </a:rPr>
                        <m:t>1</m:t>
                      </m:r>
                    </m:oMath>
                  </m:oMathPara>
                </a14:m>
                <a:endParaRPr lang="en-US" sz="1400" dirty="0">
                  <a:latin typeface="Times New Roman" panose="02020603050405020304" pitchFamily="18" charset="0"/>
                  <a:cs typeface="Times New Roman" panose="02020603050405020304" pitchFamily="18" charset="0"/>
                </a:endParaRPr>
              </a:p>
            </p:txBody>
          </p:sp>
        </mc:Choice>
        <mc:Fallback xmlns="">
          <p:sp>
            <p:nvSpPr>
              <p:cNvPr id="2" name="CuadroTexto 1">
                <a:extLst>
                  <a:ext uri="{FF2B5EF4-FFF2-40B4-BE49-F238E27FC236}">
                    <a16:creationId xmlns:a16="http://schemas.microsoft.com/office/drawing/2014/main" id="{D0F8CF3B-B920-DBFC-F825-0C87B51EADA7}"/>
                  </a:ext>
                </a:extLst>
              </p:cNvPr>
              <p:cNvSpPr txBox="1">
                <a:spLocks noRot="1" noChangeAspect="1" noMove="1" noResize="1" noEditPoints="1" noAdjustHandles="1" noChangeArrowheads="1" noChangeShapeType="1" noTextEdit="1"/>
              </p:cNvSpPr>
              <p:nvPr/>
            </p:nvSpPr>
            <p:spPr>
              <a:xfrm>
                <a:off x="6721634" y="689788"/>
                <a:ext cx="5180012" cy="5478423"/>
              </a:xfrm>
              <a:prstGeom prst="rect">
                <a:avLst/>
              </a:prstGeom>
              <a:blipFill>
                <a:blip r:embed="rId4"/>
                <a:stretch>
                  <a:fillRect l="-117" r="-117"/>
                </a:stretch>
              </a:blipFill>
              <a:ln w="28575">
                <a:solidFill>
                  <a:srgbClr val="E0700D"/>
                </a:solidFill>
              </a:ln>
            </p:spPr>
            <p:txBody>
              <a:bodyPr/>
              <a:lstStyle/>
              <a:p>
                <a:r>
                  <a:rPr lang="es-ES">
                    <a:noFill/>
                  </a:rPr>
                  <a:t> </a:t>
                </a:r>
              </a:p>
            </p:txBody>
          </p:sp>
        </mc:Fallback>
      </mc:AlternateContent>
      <p:pic>
        <p:nvPicPr>
          <p:cNvPr id="9" name="Imagen 8">
            <a:extLst>
              <a:ext uri="{FF2B5EF4-FFF2-40B4-BE49-F238E27FC236}">
                <a16:creationId xmlns:a16="http://schemas.microsoft.com/office/drawing/2014/main" id="{7AC6A6FB-7512-0A1A-021A-F3F938980D2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9259" y="1162050"/>
            <a:ext cx="6505161" cy="4533900"/>
          </a:xfrm>
          <a:prstGeom prst="rect">
            <a:avLst/>
          </a:prstGeom>
        </p:spPr>
      </p:pic>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5EA17-A19F-F6ED-E241-A2268CBA45D6}"/>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D79563BA-3258-C655-D121-E2E23B61FDB5}"/>
              </a:ext>
            </a:extLst>
          </p:cNvPr>
          <p:cNvSpPr txBox="1">
            <a:spLocks noGrp="1"/>
          </p:cNvSpPr>
          <p:nvPr>
            <p:ph type="title"/>
          </p:nvPr>
        </p:nvSpPr>
        <p:spPr>
          <a:xfrm>
            <a:off x="228600" y="169058"/>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#1b – Unbalanced MZI</a:t>
            </a:r>
            <a:br>
              <a:rPr lang="es-ES" sz="2500" spc="-5" dirty="0">
                <a:latin typeface="+mj-lt"/>
                <a:cs typeface="Lucida Sans"/>
              </a:rPr>
            </a:br>
            <a:endParaRPr sz="2500" b="0" dirty="0">
              <a:latin typeface="+mj-lt"/>
              <a:cs typeface="Lucida Sans"/>
            </a:endParaRPr>
          </a:p>
        </p:txBody>
      </p:sp>
      <p:sp>
        <p:nvSpPr>
          <p:cNvPr id="84" name="Marcador de número de diapositiva 83">
            <a:extLst>
              <a:ext uri="{FF2B5EF4-FFF2-40B4-BE49-F238E27FC236}">
                <a16:creationId xmlns:a16="http://schemas.microsoft.com/office/drawing/2014/main" id="{63FA43D9-CFE1-F872-DD44-E04BB1B18DFD}"/>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06710B9A-16F8-7A75-9BC8-FE3189874FB8}"/>
              </a:ext>
            </a:extLst>
          </p:cNvPr>
          <p:cNvSpPr>
            <a:spLocks noGrp="1"/>
          </p:cNvSpPr>
          <p:nvPr>
            <p:ph type="ftr" sz="quarter" idx="5"/>
          </p:nvPr>
        </p:nvSpPr>
        <p:spPr/>
        <p:txBody>
          <a:bodyPr/>
          <a:lstStyle/>
          <a:p>
            <a:pPr marL="12700">
              <a:spcBef>
                <a:spcPts val="15"/>
              </a:spcBef>
            </a:pPr>
            <a:r>
              <a:rPr lang="en-US" spc="-5"/>
              <a:t>LAB 3.0. CIRCUITS &amp; COMPACT MODELS</a:t>
            </a:r>
            <a:endParaRPr lang="es-ES" spc="-5" dirty="0"/>
          </a:p>
        </p:txBody>
      </p:sp>
      <p:sp>
        <p:nvSpPr>
          <p:cNvPr id="2" name="CuadroTexto 1">
            <a:extLst>
              <a:ext uri="{FF2B5EF4-FFF2-40B4-BE49-F238E27FC236}">
                <a16:creationId xmlns:a16="http://schemas.microsoft.com/office/drawing/2014/main" id="{50C41089-061E-9B39-3904-6F31AFE073B8}"/>
              </a:ext>
            </a:extLst>
          </p:cNvPr>
          <p:cNvSpPr txBox="1"/>
          <p:nvPr/>
        </p:nvSpPr>
        <p:spPr>
          <a:xfrm>
            <a:off x="6758940" y="195977"/>
            <a:ext cx="5105400" cy="6524863"/>
          </a:xfrm>
          <a:prstGeom prst="rect">
            <a:avLst/>
          </a:prstGeom>
          <a:solidFill>
            <a:schemeClr val="bg1">
              <a:lumMod val="95000"/>
            </a:schemeClr>
          </a:solidFill>
          <a:ln w="28575">
            <a:solidFill>
              <a:srgbClr val="E0700D"/>
            </a:solidFill>
          </a:ln>
        </p:spPr>
        <p:txBody>
          <a:bodyPr wrap="square" rtlCol="0">
            <a:spAutoFit/>
          </a:bodyPr>
          <a:lstStyle/>
          <a:p>
            <a:pPr algn="just"/>
            <a:r>
              <a:rPr lang="es-ES" sz="1400" dirty="0">
                <a:latin typeface="Times New Roman" panose="02020603050405020304" pitchFamily="18" charset="0"/>
                <a:cs typeface="Times New Roman" panose="02020603050405020304" pitchFamily="18" charset="0"/>
              </a:rPr>
              <a:t>En este segundo ejercicio se simula un interferómetro Mach-Zehnder desbalanceado, con una diferencia de longitud entre brazos de ΔL = 100 µm. Los acopladores de entrada y salida son 50:50, por lo que la potencia se divide y se recombina de igual forma.</a:t>
            </a:r>
          </a:p>
          <a:p>
            <a:pPr algn="just"/>
            <a:r>
              <a:rPr lang="es-ES" sz="1400" dirty="0">
                <a:latin typeface="Times New Roman" panose="02020603050405020304" pitchFamily="18" charset="0"/>
                <a:cs typeface="Times New Roman" panose="02020603050405020304" pitchFamily="18" charset="0"/>
              </a:rPr>
              <a:t>A diferencia del caso balanceado, ahora existe una diferencia de camino óptico entre los dos brazos. Esto introduce una diferencia de fase dependiente de la longitud de onda. Como consecuencia, la función de transferencia deja de ser “plana” y aparece un patrón periódico de interferencia (Como se puede observar en la imagen).</a:t>
            </a:r>
          </a:p>
          <a:p>
            <a:pPr algn="just"/>
            <a:r>
              <a:rPr lang="es-ES" sz="1400" dirty="0">
                <a:latin typeface="Times New Roman" panose="02020603050405020304" pitchFamily="18" charset="0"/>
                <a:cs typeface="Times New Roman" panose="02020603050405020304" pitchFamily="18" charset="0"/>
              </a:rPr>
              <a:t>En la gráfica lineal se observa que las dos salidas son complementarias: cuando |H00|² alcanza un máximo, |H01|² alcanza un mínimo, y viceversa. Esto se debe a que en un puerto se produce interferencia constructiva mientras que en el otro se produce interferencia destructiva.</a:t>
            </a:r>
          </a:p>
          <a:p>
            <a:pPr algn="just"/>
            <a:endParaRPr lang="es-ES" sz="1400" dirty="0">
              <a:latin typeface="Times New Roman" panose="02020603050405020304" pitchFamily="18" charset="0"/>
              <a:cs typeface="Times New Roman" panose="02020603050405020304" pitchFamily="18" charset="0"/>
            </a:endParaRPr>
          </a:p>
          <a:p>
            <a:pPr algn="just"/>
            <a:r>
              <a:rPr lang="es-ES" sz="1400" dirty="0">
                <a:latin typeface="Times New Roman" panose="02020603050405020304" pitchFamily="18" charset="0"/>
                <a:cs typeface="Times New Roman" panose="02020603050405020304" pitchFamily="18" charset="0"/>
              </a:rPr>
              <a:t>El FSR, se obtiene como la separación entre dos máximos consecutivos, o entre dos mínimos consecutivos, de una misma curva. En la gráfica se observa un FSR aproximado de 12 nm.</a:t>
            </a:r>
          </a:p>
          <a:p>
            <a:pPr algn="just"/>
            <a:endParaRPr lang="es-ES" sz="1400" dirty="0">
              <a:latin typeface="Times New Roman" panose="02020603050405020304" pitchFamily="18" charset="0"/>
              <a:cs typeface="Times New Roman" panose="02020603050405020304" pitchFamily="18" charset="0"/>
            </a:endParaRPr>
          </a:p>
          <a:p>
            <a:pPr algn="just"/>
            <a:r>
              <a:rPr lang="es-ES" sz="1400" dirty="0">
                <a:latin typeface="Times New Roman" panose="02020603050405020304" pitchFamily="18" charset="0"/>
                <a:cs typeface="Times New Roman" panose="02020603050405020304" pitchFamily="18" charset="0"/>
              </a:rPr>
              <a:t>Teóricamente:</a:t>
            </a:r>
          </a:p>
          <a:p>
            <a:pPr algn="just"/>
            <a:endParaRPr lang="es-ES" sz="1400" dirty="0">
              <a:latin typeface="Times New Roman" panose="02020603050405020304" pitchFamily="18" charset="0"/>
              <a:cs typeface="Times New Roman" panose="02020603050405020304" pitchFamily="18" charset="0"/>
            </a:endParaRPr>
          </a:p>
          <a:p>
            <a:pPr algn="just"/>
            <a:r>
              <a:rPr lang="es-ES" sz="1400" dirty="0">
                <a:latin typeface="Times New Roman" panose="02020603050405020304" pitchFamily="18" charset="0"/>
                <a:cs typeface="Times New Roman" panose="02020603050405020304" pitchFamily="18" charset="0"/>
              </a:rPr>
              <a:t>FSR ≈ λ0² / (ng · ΔL)</a:t>
            </a:r>
          </a:p>
          <a:p>
            <a:pPr algn="just"/>
            <a:r>
              <a:rPr lang="es-ES" sz="1400" dirty="0">
                <a:latin typeface="Times New Roman" panose="02020603050405020304" pitchFamily="18" charset="0"/>
                <a:cs typeface="Times New Roman" panose="02020603050405020304" pitchFamily="18" charset="0"/>
              </a:rPr>
              <a:t>Usando λ0 = 1550 nm = 1.55 µm, ng = 2.0 y ΔL = 100 µm:</a:t>
            </a:r>
          </a:p>
          <a:p>
            <a:pPr algn="just"/>
            <a:r>
              <a:rPr lang="es-ES" sz="1400" dirty="0">
                <a:latin typeface="Times New Roman" panose="02020603050405020304" pitchFamily="18" charset="0"/>
                <a:cs typeface="Times New Roman" panose="02020603050405020304" pitchFamily="18" charset="0"/>
              </a:rPr>
              <a:t>FSR ≈ 1.55² / (2.0 · 100) = 0.012 µm = 12 nm</a:t>
            </a:r>
          </a:p>
          <a:p>
            <a:pPr algn="just"/>
            <a:endParaRPr lang="es-ES" sz="1400" dirty="0">
              <a:latin typeface="Times New Roman" panose="02020603050405020304" pitchFamily="18" charset="0"/>
              <a:cs typeface="Times New Roman" panose="02020603050405020304" pitchFamily="18" charset="0"/>
            </a:endParaRPr>
          </a:p>
          <a:p>
            <a:pPr algn="just"/>
            <a:r>
              <a:rPr lang="es-ES" sz="1400" dirty="0">
                <a:latin typeface="Times New Roman" panose="02020603050405020304" pitchFamily="18" charset="0"/>
                <a:cs typeface="Times New Roman" panose="02020603050405020304" pitchFamily="18" charset="0"/>
              </a:rPr>
              <a:t>El resultado teórico coincide con la simulación. Además, se comprueba que el FSR es inversamente proporcional a la diferencia de longitud entre brazos, es decir, cuanto mayor sea la diferencia de longitud entre los brazos, menor será el FSR. </a:t>
            </a:r>
            <a:endParaRPr lang="en-US" sz="1200" dirty="0">
              <a:latin typeface="Arial" panose="020B0604020202020204" pitchFamily="34" charset="0"/>
              <a:cs typeface="Arial" panose="020B0604020202020204" pitchFamily="34" charset="0"/>
            </a:endParaRPr>
          </a:p>
        </p:txBody>
      </p:sp>
      <p:pic>
        <p:nvPicPr>
          <p:cNvPr id="9" name="Imagen 8">
            <a:extLst>
              <a:ext uri="{FF2B5EF4-FFF2-40B4-BE49-F238E27FC236}">
                <a16:creationId xmlns:a16="http://schemas.microsoft.com/office/drawing/2014/main" id="{1F5678D7-C0D9-C33A-963E-50CD7E596E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742" y="626943"/>
            <a:ext cx="6409575" cy="4467280"/>
          </a:xfrm>
          <a:prstGeom prst="rect">
            <a:avLst/>
          </a:prstGeom>
        </p:spPr>
      </p:pic>
      <p:pic>
        <p:nvPicPr>
          <p:cNvPr id="11" name="Imagen 10">
            <a:extLst>
              <a:ext uri="{FF2B5EF4-FFF2-40B4-BE49-F238E27FC236}">
                <a16:creationId xmlns:a16="http://schemas.microsoft.com/office/drawing/2014/main" id="{DD312233-41E1-60D3-90DC-5CA19BEC72B4}"/>
              </a:ext>
            </a:extLst>
          </p:cNvPr>
          <p:cNvPicPr>
            <a:picLocks noChangeAspect="1"/>
          </p:cNvPicPr>
          <p:nvPr/>
        </p:nvPicPr>
        <p:blipFill>
          <a:blip r:embed="rId4"/>
          <a:stretch>
            <a:fillRect/>
          </a:stretch>
        </p:blipFill>
        <p:spPr>
          <a:xfrm>
            <a:off x="437015" y="5161927"/>
            <a:ext cx="5715027" cy="1387463"/>
          </a:xfrm>
          <a:prstGeom prst="rect">
            <a:avLst/>
          </a:prstGeom>
        </p:spPr>
      </p:pic>
    </p:spTree>
    <p:extLst>
      <p:ext uri="{BB962C8B-B14F-4D97-AF65-F5344CB8AC3E}">
        <p14:creationId xmlns:p14="http://schemas.microsoft.com/office/powerpoint/2010/main" val="2395180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5</a:t>
            </a:fld>
            <a:endParaRPr lang="en-US" dirty="0"/>
          </a:p>
        </p:txBody>
      </p:sp>
      <p:sp>
        <p:nvSpPr>
          <p:cNvPr id="8" name="CuadroTexto 7">
            <a:extLst>
              <a:ext uri="{FF2B5EF4-FFF2-40B4-BE49-F238E27FC236}">
                <a16:creationId xmlns:a16="http://schemas.microsoft.com/office/drawing/2014/main" id="{D9601617-351E-AE1A-1F4D-693F2EA59361}"/>
              </a:ext>
            </a:extLst>
          </p:cNvPr>
          <p:cNvSpPr txBox="1"/>
          <p:nvPr/>
        </p:nvSpPr>
        <p:spPr>
          <a:xfrm>
            <a:off x="7178260" y="457200"/>
            <a:ext cx="4266759" cy="4154984"/>
          </a:xfrm>
          <a:prstGeom prst="rect">
            <a:avLst/>
          </a:prstGeom>
          <a:solidFill>
            <a:schemeClr val="bg1">
              <a:lumMod val="95000"/>
            </a:schemeClr>
          </a:solidFill>
          <a:ln w="28575">
            <a:solidFill>
              <a:srgbClr val="E0700D"/>
            </a:solidFill>
          </a:ln>
        </p:spPr>
        <p:txBody>
          <a:bodyPr wrap="square" rtlCol="0">
            <a:spAutoFit/>
          </a:bodyPr>
          <a:lstStyle/>
          <a:p>
            <a:pPr algn="just"/>
            <a:r>
              <a:rPr lang="es-ES" sz="1400" dirty="0">
                <a:latin typeface="Times New Roman" panose="02020603050405020304" pitchFamily="18" charset="0"/>
                <a:cs typeface="Times New Roman" panose="02020603050405020304" pitchFamily="18" charset="0"/>
              </a:rPr>
              <a:t>La realización de este tercer </a:t>
            </a:r>
            <a:r>
              <a:rPr lang="es-ES" sz="1400" dirty="0" err="1">
                <a:latin typeface="Times New Roman" panose="02020603050405020304" pitchFamily="18" charset="0"/>
                <a:cs typeface="Times New Roman" panose="02020603050405020304" pitchFamily="18" charset="0"/>
              </a:rPr>
              <a:t>ejerciicio</a:t>
            </a:r>
            <a:r>
              <a:rPr lang="es-ES" sz="1400" dirty="0">
                <a:latin typeface="Times New Roman" panose="02020603050405020304" pitchFamily="18" charset="0"/>
                <a:cs typeface="Times New Roman" panose="02020603050405020304" pitchFamily="18" charset="0"/>
              </a:rPr>
              <a:t> muestra una respuesta periódica de interferencia, de un MZI desbalanceado. Partiendo de un FSR de 2nm, se obtiene una diferencia de 600 µm aproximadamente. Al existir esta diferencia de longitud entre los brazos, ΔL = 600.63 µm, aparece una diferencia de fase dependiente de la longitud de onda.</a:t>
            </a:r>
          </a:p>
          <a:p>
            <a:pPr algn="just"/>
            <a:endParaRPr lang="es-ES" sz="1400" dirty="0">
              <a:latin typeface="Times New Roman" panose="02020603050405020304" pitchFamily="18" charset="0"/>
              <a:cs typeface="Times New Roman" panose="02020603050405020304" pitchFamily="18" charset="0"/>
            </a:endParaRPr>
          </a:p>
          <a:p>
            <a:pPr algn="just"/>
            <a:r>
              <a:rPr lang="es-ES" sz="1400" dirty="0">
                <a:latin typeface="Times New Roman" panose="02020603050405020304" pitchFamily="18" charset="0"/>
                <a:cs typeface="Times New Roman" panose="02020603050405020304" pitchFamily="18" charset="0"/>
              </a:rPr>
              <a:t>Las dos salidas son complementarias: cuando |H00|² alcanza un máximo, |H01|² alcanza un mínimo, y viceversa. Esto indica que la potencia se redistribuye entre los dos puertos de salida debido a la alternancia entre interferencia constructiva y destructiva.</a:t>
            </a:r>
          </a:p>
          <a:p>
            <a:pPr algn="just"/>
            <a:endParaRPr lang="es-ES" sz="1400" dirty="0">
              <a:latin typeface="Times New Roman" panose="02020603050405020304" pitchFamily="18" charset="0"/>
              <a:cs typeface="Times New Roman" panose="02020603050405020304" pitchFamily="18" charset="0"/>
            </a:endParaRPr>
          </a:p>
          <a:p>
            <a:pPr algn="just"/>
            <a:r>
              <a:rPr lang="es-ES" sz="1400" dirty="0">
                <a:latin typeface="Times New Roman" panose="02020603050405020304" pitchFamily="18" charset="0"/>
                <a:cs typeface="Times New Roman" panose="02020603050405020304" pitchFamily="18" charset="0"/>
              </a:rPr>
              <a:t>El resultado confirma la relación inversa entre FSR y diferencia de longitud: al utilizar una ΔL mucho mayor que en el ejercicio anterior, las oscilaciones aparecen mucho más juntas y el FSR disminuye.</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13" name="object 16">
            <a:extLst>
              <a:ext uri="{FF2B5EF4-FFF2-40B4-BE49-F238E27FC236}">
                <a16:creationId xmlns:a16="http://schemas.microsoft.com/office/drawing/2014/main" id="{98DA9316-CFD5-58C0-735F-237403D53172}"/>
              </a:ext>
            </a:extLst>
          </p:cNvPr>
          <p:cNvSpPr txBox="1">
            <a:spLocks/>
          </p:cNvSpPr>
          <p:nvPr/>
        </p:nvSpPr>
        <p:spPr>
          <a:xfrm>
            <a:off x="269290" y="-557728"/>
            <a:ext cx="4724400" cy="548868"/>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1200" kern="0" dirty="0"/>
              <a:t>Learning outcome #2 – MZI Design</a:t>
            </a:r>
          </a:p>
          <a:p>
            <a:pPr marL="12700">
              <a:spcBef>
                <a:spcPts val="100"/>
              </a:spcBef>
            </a:pPr>
            <a:r>
              <a:rPr lang="en-US" sz="1050" b="0" kern="0" spc="-5" dirty="0">
                <a:latin typeface="+mj-lt"/>
                <a:cs typeface="Lucida Sans"/>
              </a:rPr>
              <a:t>Design a MZI with FSR = 2 nm at 1550 nm</a:t>
            </a:r>
            <a:br>
              <a:rPr lang="en-US" sz="1050" b="0" kern="0" spc="-5" dirty="0">
                <a:latin typeface="+mj-lt"/>
                <a:cs typeface="Lucida Sans"/>
              </a:rPr>
            </a:br>
            <a:endParaRPr lang="en-US" sz="1050" b="0" kern="0" dirty="0">
              <a:latin typeface="+mj-lt"/>
              <a:cs typeface="Lucida Sans"/>
            </a:endParaRPr>
          </a:p>
        </p:txBody>
      </p:sp>
      <p:pic>
        <p:nvPicPr>
          <p:cNvPr id="4" name="Imagen 3">
            <a:extLst>
              <a:ext uri="{FF2B5EF4-FFF2-40B4-BE49-F238E27FC236}">
                <a16:creationId xmlns:a16="http://schemas.microsoft.com/office/drawing/2014/main" id="{682DD1E3-D143-85BF-F832-86D7A60E5F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137160"/>
            <a:ext cx="6191830" cy="4315518"/>
          </a:xfrm>
          <a:prstGeom prst="rect">
            <a:avLst/>
          </a:prstGeom>
        </p:spPr>
      </p:pic>
      <p:pic>
        <p:nvPicPr>
          <p:cNvPr id="9" name="Imagen 8">
            <a:extLst>
              <a:ext uri="{FF2B5EF4-FFF2-40B4-BE49-F238E27FC236}">
                <a16:creationId xmlns:a16="http://schemas.microsoft.com/office/drawing/2014/main" id="{A70418A7-5241-B16A-3448-CFDC61F8E75C}"/>
              </a:ext>
            </a:extLst>
          </p:cNvPr>
          <p:cNvPicPr>
            <a:picLocks noChangeAspect="1"/>
          </p:cNvPicPr>
          <p:nvPr/>
        </p:nvPicPr>
        <p:blipFill>
          <a:blip r:embed="rId3"/>
          <a:stretch>
            <a:fillRect/>
          </a:stretch>
        </p:blipFill>
        <p:spPr>
          <a:xfrm>
            <a:off x="1143000" y="4553556"/>
            <a:ext cx="5181600" cy="2160196"/>
          </a:xfrm>
          <a:prstGeom prst="rect">
            <a:avLst/>
          </a:prstGeom>
        </p:spPr>
      </p:pic>
      <p:pic>
        <p:nvPicPr>
          <p:cNvPr id="17" name="Imagen 16">
            <a:extLst>
              <a:ext uri="{FF2B5EF4-FFF2-40B4-BE49-F238E27FC236}">
                <a16:creationId xmlns:a16="http://schemas.microsoft.com/office/drawing/2014/main" id="{EEC1633D-8BA2-5F45-5213-94F577E75F12}"/>
              </a:ext>
            </a:extLst>
          </p:cNvPr>
          <p:cNvPicPr>
            <a:picLocks noChangeAspect="1"/>
          </p:cNvPicPr>
          <p:nvPr/>
        </p:nvPicPr>
        <p:blipFill>
          <a:blip r:embed="rId4"/>
          <a:stretch>
            <a:fillRect/>
          </a:stretch>
        </p:blipFill>
        <p:spPr>
          <a:xfrm>
            <a:off x="6859704" y="5059955"/>
            <a:ext cx="4903870" cy="1374515"/>
          </a:xfrm>
          <a:prstGeom prst="rect">
            <a:avLst/>
          </a:prstGeom>
        </p:spPr>
      </p:pic>
    </p:spTree>
    <p:extLst>
      <p:ext uri="{BB962C8B-B14F-4D97-AF65-F5344CB8AC3E}">
        <p14:creationId xmlns:p14="http://schemas.microsoft.com/office/powerpoint/2010/main" val="1222654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1636B-7BF0-5143-57E9-673FF1B33E8E}"/>
            </a:ext>
          </a:extLst>
        </p:cNvPr>
        <p:cNvGrpSpPr/>
        <p:nvPr/>
      </p:nvGrpSpPr>
      <p:grpSpPr>
        <a:xfrm>
          <a:off x="0" y="0"/>
          <a:ext cx="0" cy="0"/>
          <a:chOff x="0" y="0"/>
          <a:chExt cx="0" cy="0"/>
        </a:xfrm>
      </p:grpSpPr>
      <p:sp>
        <p:nvSpPr>
          <p:cNvPr id="6" name="Marcador de número de diapositiva 5">
            <a:extLst>
              <a:ext uri="{FF2B5EF4-FFF2-40B4-BE49-F238E27FC236}">
                <a16:creationId xmlns:a16="http://schemas.microsoft.com/office/drawing/2014/main" id="{DED76083-7F21-5E97-9AC1-DEEB9C8B23CA}"/>
              </a:ext>
            </a:extLst>
          </p:cNvPr>
          <p:cNvSpPr>
            <a:spLocks noGrp="1"/>
          </p:cNvSpPr>
          <p:nvPr>
            <p:ph type="sldNum" sz="quarter" idx="7"/>
          </p:nvPr>
        </p:nvSpPr>
        <p:spPr/>
        <p:txBody>
          <a:bodyPr/>
          <a:lstStyle/>
          <a:p>
            <a:fld id="{C2F52289-4012-4053-9770-FE82CEB9514F}" type="slidenum">
              <a:rPr lang="en-US" smtClean="0"/>
              <a:pPr/>
              <a:t>6</a:t>
            </a:fld>
            <a:endParaRPr lang="en-US" dirty="0"/>
          </a:p>
        </p:txBody>
      </p:sp>
      <p:pic>
        <p:nvPicPr>
          <p:cNvPr id="10" name="Gráfico 9">
            <a:extLst>
              <a:ext uri="{FF2B5EF4-FFF2-40B4-BE49-F238E27FC236}">
                <a16:creationId xmlns:a16="http://schemas.microsoft.com/office/drawing/2014/main" id="{6A4FE9E0-92EE-4367-CEE1-FB072709D7E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13" name="object 16">
            <a:extLst>
              <a:ext uri="{FF2B5EF4-FFF2-40B4-BE49-F238E27FC236}">
                <a16:creationId xmlns:a16="http://schemas.microsoft.com/office/drawing/2014/main" id="{1E286371-F443-FD5C-BF57-FB23A8D7F4F7}"/>
              </a:ext>
            </a:extLst>
          </p:cNvPr>
          <p:cNvSpPr txBox="1">
            <a:spLocks/>
          </p:cNvSpPr>
          <p:nvPr/>
        </p:nvSpPr>
        <p:spPr>
          <a:xfrm>
            <a:off x="228600" y="138769"/>
            <a:ext cx="4267200" cy="456535"/>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1600" kern="0" dirty="0"/>
              <a:t>Learning outcome #3 – Delay imbalance with loss</a:t>
            </a:r>
          </a:p>
          <a:p>
            <a:pPr marL="12700">
              <a:spcBef>
                <a:spcPts val="100"/>
              </a:spcBef>
            </a:pPr>
            <a:r>
              <a:rPr lang="en-US" sz="1200" b="0" kern="0" spc="-5" dirty="0">
                <a:latin typeface="+mj-lt"/>
                <a:cs typeface="Lucida Sans"/>
              </a:rPr>
              <a:t>Fringe visibility</a:t>
            </a:r>
            <a:endParaRPr lang="en-US" sz="1200" b="0" kern="0" dirty="0">
              <a:latin typeface="+mj-lt"/>
              <a:cs typeface="Lucida Sans"/>
            </a:endParaRPr>
          </a:p>
        </p:txBody>
      </p:sp>
      <p:sp>
        <p:nvSpPr>
          <p:cNvPr id="2" name="CuadroTexto 1">
            <a:extLst>
              <a:ext uri="{FF2B5EF4-FFF2-40B4-BE49-F238E27FC236}">
                <a16:creationId xmlns:a16="http://schemas.microsoft.com/office/drawing/2014/main" id="{F1C12A10-91CE-B5DA-9D77-267ED06AEAC2}"/>
              </a:ext>
            </a:extLst>
          </p:cNvPr>
          <p:cNvSpPr txBox="1"/>
          <p:nvPr/>
        </p:nvSpPr>
        <p:spPr>
          <a:xfrm>
            <a:off x="7026434" y="685800"/>
            <a:ext cx="4570412" cy="4985980"/>
          </a:xfrm>
          <a:prstGeom prst="rect">
            <a:avLst/>
          </a:prstGeom>
          <a:solidFill>
            <a:schemeClr val="bg1">
              <a:lumMod val="95000"/>
            </a:schemeClr>
          </a:solidFill>
          <a:ln w="28575">
            <a:solidFill>
              <a:srgbClr val="E0700D"/>
            </a:solidFill>
          </a:ln>
        </p:spPr>
        <p:txBody>
          <a:bodyPr wrap="square" rtlCol="0">
            <a:spAutoFit/>
          </a:bodyPr>
          <a:lstStyle/>
          <a:p>
            <a:pPr algn="just"/>
            <a:r>
              <a:rPr lang="es-ES" sz="1400" dirty="0">
                <a:latin typeface="Times New Roman" panose="02020603050405020304" pitchFamily="18" charset="0"/>
                <a:cs typeface="Times New Roman" panose="02020603050405020304" pitchFamily="18" charset="0"/>
              </a:rPr>
              <a:t>En este ejercicio se analiza un MZI con gran desbalance de longitud y pérdidas de propagación. Debido a que uno de los brazos es mucho más largo, la señal que viaja por ese brazo llega al acoplador de salida mucho más atenuada que la del brazo corto.</a:t>
            </a:r>
          </a:p>
          <a:p>
            <a:pPr algn="just"/>
            <a:endParaRPr lang="es-ES" sz="1400" dirty="0">
              <a:latin typeface="Times New Roman" panose="02020603050405020304" pitchFamily="18" charset="0"/>
              <a:cs typeface="Times New Roman" panose="02020603050405020304" pitchFamily="18" charset="0"/>
            </a:endParaRPr>
          </a:p>
          <a:p>
            <a:pPr algn="just"/>
            <a:r>
              <a:rPr lang="es-ES" sz="1400" dirty="0">
                <a:latin typeface="Times New Roman" panose="02020603050405020304" pitchFamily="18" charset="0"/>
                <a:cs typeface="Times New Roman" panose="02020603050405020304" pitchFamily="18" charset="0"/>
              </a:rPr>
              <a:t>En el caso 1, con Ka = 0.5 y Kb = 0.5, la potencia se divide inicialmente de forma equilibrada entre los dos brazos. Aunque el brazo largo acumula más pérdidas, todavía aparece un patrón de interferencia visible. El </a:t>
            </a:r>
            <a:r>
              <a:rPr lang="es-ES" sz="1400" dirty="0" err="1">
                <a:latin typeface="Times New Roman" panose="02020603050405020304" pitchFamily="18" charset="0"/>
                <a:cs typeface="Times New Roman" panose="02020603050405020304" pitchFamily="18" charset="0"/>
              </a:rPr>
              <a:t>extinction</a:t>
            </a:r>
            <a:r>
              <a:rPr lang="es-ES" sz="1400" dirty="0">
                <a:latin typeface="Times New Roman" panose="02020603050405020304" pitchFamily="18" charset="0"/>
                <a:cs typeface="Times New Roman" panose="02020603050405020304" pitchFamily="18" charset="0"/>
              </a:rPr>
              <a:t> ratio obtenido es ER = 1.323 dB.</a:t>
            </a:r>
          </a:p>
          <a:p>
            <a:pPr algn="just"/>
            <a:endParaRPr lang="es-ES" sz="1400" dirty="0">
              <a:latin typeface="Times New Roman" panose="02020603050405020304" pitchFamily="18" charset="0"/>
              <a:cs typeface="Times New Roman" panose="02020603050405020304" pitchFamily="18" charset="0"/>
            </a:endParaRPr>
          </a:p>
          <a:p>
            <a:pPr algn="just"/>
            <a:r>
              <a:rPr lang="es-ES" sz="1400" dirty="0">
                <a:latin typeface="Times New Roman" panose="02020603050405020304" pitchFamily="18" charset="0"/>
                <a:cs typeface="Times New Roman" panose="02020603050405020304" pitchFamily="18" charset="0"/>
              </a:rPr>
              <a:t>En el caso 2, con Ka = 0.1 y Kb = 0.5, el desbalance de amplitudes entre los dos brazos es mayor. Por ello, la respuesta es más “plana”. El </a:t>
            </a:r>
            <a:r>
              <a:rPr lang="es-ES" sz="1400" dirty="0" err="1">
                <a:latin typeface="Times New Roman" panose="02020603050405020304" pitchFamily="18" charset="0"/>
                <a:cs typeface="Times New Roman" panose="02020603050405020304" pitchFamily="18" charset="0"/>
              </a:rPr>
              <a:t>extinction</a:t>
            </a:r>
            <a:r>
              <a:rPr lang="es-ES" sz="1400" dirty="0">
                <a:latin typeface="Times New Roman" panose="02020603050405020304" pitchFamily="18" charset="0"/>
                <a:cs typeface="Times New Roman" panose="02020603050405020304" pitchFamily="18" charset="0"/>
              </a:rPr>
              <a:t> ratio baja hasta ER = 0.440 dB.</a:t>
            </a:r>
          </a:p>
          <a:p>
            <a:pPr algn="just"/>
            <a:endParaRPr lang="es-ES" sz="1400" dirty="0">
              <a:latin typeface="Times New Roman" panose="02020603050405020304" pitchFamily="18" charset="0"/>
              <a:cs typeface="Times New Roman" panose="02020603050405020304" pitchFamily="18" charset="0"/>
            </a:endParaRPr>
          </a:p>
          <a:p>
            <a:pPr algn="just"/>
            <a:r>
              <a:rPr lang="es-ES" sz="1400" dirty="0">
                <a:latin typeface="Times New Roman" panose="02020603050405020304" pitchFamily="18" charset="0"/>
                <a:cs typeface="Times New Roman" panose="02020603050405020304" pitchFamily="18" charset="0"/>
              </a:rPr>
              <a:t>Por tanto, en ambos casos existe interferencia, pero el caso 1 presenta mayor </a:t>
            </a:r>
            <a:r>
              <a:rPr lang="es-ES" sz="1400" dirty="0" err="1">
                <a:latin typeface="Times New Roman" panose="02020603050405020304" pitchFamily="18" charset="0"/>
                <a:cs typeface="Times New Roman" panose="02020603050405020304" pitchFamily="18" charset="0"/>
              </a:rPr>
              <a:t>msyor</a:t>
            </a:r>
            <a:r>
              <a:rPr lang="es-ES" sz="1400" dirty="0">
                <a:latin typeface="Times New Roman" panose="02020603050405020304" pitchFamily="18" charset="0"/>
                <a:cs typeface="Times New Roman" panose="02020603050405020304" pitchFamily="18" charset="0"/>
              </a:rPr>
              <a:t> </a:t>
            </a:r>
            <a:r>
              <a:rPr lang="es-ES" sz="1400" dirty="0" err="1">
                <a:latin typeface="Times New Roman" panose="02020603050405020304" pitchFamily="18" charset="0"/>
                <a:cs typeface="Times New Roman" panose="02020603050405020304" pitchFamily="18" charset="0"/>
              </a:rPr>
              <a:t>extinction</a:t>
            </a:r>
            <a:r>
              <a:rPr lang="es-ES" sz="1400" dirty="0">
                <a:latin typeface="Times New Roman" panose="02020603050405020304" pitchFamily="18" charset="0"/>
                <a:cs typeface="Times New Roman" panose="02020603050405020304" pitchFamily="18" charset="0"/>
              </a:rPr>
              <a:t> ratio. La razón es que la interferencia es más eficiente cuando las amplitudes que se recombinan en el segundo acoplador son más parecidas.</a:t>
            </a:r>
            <a:endParaRPr lang="en-US" sz="1400" dirty="0">
              <a:latin typeface="Times New Roman" panose="02020603050405020304" pitchFamily="18" charset="0"/>
              <a:cs typeface="Times New Roman" panose="02020603050405020304" pitchFamily="18"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pic>
        <p:nvPicPr>
          <p:cNvPr id="12" name="Imagen 11">
            <a:extLst>
              <a:ext uri="{FF2B5EF4-FFF2-40B4-BE49-F238E27FC236}">
                <a16:creationId xmlns:a16="http://schemas.microsoft.com/office/drawing/2014/main" id="{9DC134C5-5FDD-0B1F-8816-683C35C8FE68}"/>
              </a:ext>
            </a:extLst>
          </p:cNvPr>
          <p:cNvPicPr>
            <a:picLocks noChangeAspect="1"/>
          </p:cNvPicPr>
          <p:nvPr/>
        </p:nvPicPr>
        <p:blipFill>
          <a:blip r:embed="rId3"/>
          <a:stretch>
            <a:fillRect/>
          </a:stretch>
        </p:blipFill>
        <p:spPr>
          <a:xfrm>
            <a:off x="2202911" y="4987637"/>
            <a:ext cx="2286000" cy="1870363"/>
          </a:xfrm>
          <a:prstGeom prst="rect">
            <a:avLst/>
          </a:prstGeom>
        </p:spPr>
      </p:pic>
      <p:pic>
        <p:nvPicPr>
          <p:cNvPr id="15" name="Imagen 14">
            <a:extLst>
              <a:ext uri="{FF2B5EF4-FFF2-40B4-BE49-F238E27FC236}">
                <a16:creationId xmlns:a16="http://schemas.microsoft.com/office/drawing/2014/main" id="{899F26CF-B0B1-E983-1071-5E6302444DE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8600" y="435905"/>
            <a:ext cx="6234623" cy="4517095"/>
          </a:xfrm>
          <a:prstGeom prst="rect">
            <a:avLst/>
          </a:prstGeom>
        </p:spPr>
      </p:pic>
    </p:spTree>
    <p:extLst>
      <p:ext uri="{BB962C8B-B14F-4D97-AF65-F5344CB8AC3E}">
        <p14:creationId xmlns:p14="http://schemas.microsoft.com/office/powerpoint/2010/main" val="14757106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F929251A-3DC4-36B2-3FB3-341378364BED}"/>
              </a:ext>
            </a:extLst>
          </p:cNvPr>
          <p:cNvSpPr>
            <a:spLocks noGrp="1"/>
          </p:cNvSpPr>
          <p:nvPr>
            <p:ph type="ftr" sz="quarter" idx="5"/>
          </p:nvPr>
        </p:nvSpPr>
        <p:spPr/>
        <p:txBody>
          <a:bodyPr/>
          <a:lstStyle/>
          <a:p>
            <a:r>
              <a:rPr lang="en-US"/>
              <a:t>LAB 3.0. CIRCUITS &amp; COMPACT MODELS</a:t>
            </a:r>
          </a:p>
        </p:txBody>
      </p:sp>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7</a:t>
            </a:fld>
            <a:endParaRPr lang="en-US" dirty="0"/>
          </a:p>
        </p:txBody>
      </p:sp>
      <p:sp>
        <p:nvSpPr>
          <p:cNvPr id="8" name="CuadroTexto 7">
            <a:extLst>
              <a:ext uri="{FF2B5EF4-FFF2-40B4-BE49-F238E27FC236}">
                <a16:creationId xmlns:a16="http://schemas.microsoft.com/office/drawing/2014/main" id="{D9601617-351E-AE1A-1F4D-693F2EA59361}"/>
              </a:ext>
            </a:extLst>
          </p:cNvPr>
          <p:cNvSpPr txBox="1"/>
          <p:nvPr/>
        </p:nvSpPr>
        <p:spPr>
          <a:xfrm>
            <a:off x="6934200" y="468630"/>
            <a:ext cx="4495800" cy="5909310"/>
          </a:xfrm>
          <a:prstGeom prst="rect">
            <a:avLst/>
          </a:prstGeom>
          <a:solidFill>
            <a:schemeClr val="bg1">
              <a:lumMod val="95000"/>
            </a:schemeClr>
          </a:solidFill>
          <a:ln w="28575">
            <a:solidFill>
              <a:srgbClr val="E0700D"/>
            </a:solidFill>
          </a:ln>
        </p:spPr>
        <p:txBody>
          <a:bodyPr wrap="square" rtlCol="0">
            <a:spAutoFit/>
          </a:bodyPr>
          <a:lstStyle/>
          <a:p>
            <a:pPr algn="just"/>
            <a:r>
              <a:rPr lang="es-ES" sz="1400" dirty="0">
                <a:latin typeface="Times New Roman" panose="02020603050405020304" pitchFamily="18" charset="0"/>
                <a:cs typeface="Times New Roman" panose="02020603050405020304" pitchFamily="18" charset="0"/>
              </a:rPr>
              <a:t>En este ejercicio pasamos de un MZI a un anillo resonador de tipo </a:t>
            </a:r>
            <a:r>
              <a:rPr lang="es-ES" sz="1400" dirty="0" err="1">
                <a:latin typeface="Times New Roman" panose="02020603050405020304" pitchFamily="18" charset="0"/>
                <a:cs typeface="Times New Roman" panose="02020603050405020304" pitchFamily="18" charset="0"/>
              </a:rPr>
              <a:t>add-drop</a:t>
            </a:r>
            <a:r>
              <a:rPr lang="es-ES" sz="1400" dirty="0">
                <a:latin typeface="Times New Roman" panose="02020603050405020304" pitchFamily="18" charset="0"/>
                <a:cs typeface="Times New Roman" panose="02020603050405020304" pitchFamily="18" charset="0"/>
              </a:rPr>
              <a:t> con coeficiente de acoplo constante K. La función H00 representa la transmisión hacia el puerto </a:t>
            </a:r>
            <a:r>
              <a:rPr lang="es-ES" sz="1400" dirty="0" err="1">
                <a:latin typeface="Times New Roman" panose="02020603050405020304" pitchFamily="18" charset="0"/>
                <a:cs typeface="Times New Roman" panose="02020603050405020304" pitchFamily="18" charset="0"/>
              </a:rPr>
              <a:t>through</a:t>
            </a:r>
            <a:r>
              <a:rPr lang="es-ES" sz="1400" dirty="0">
                <a:latin typeface="Times New Roman" panose="02020603050405020304" pitchFamily="18" charset="0"/>
                <a:cs typeface="Times New Roman" panose="02020603050405020304" pitchFamily="18" charset="0"/>
              </a:rPr>
              <a:t>, mientras que H01 representa la transmisión hacia el puerto </a:t>
            </a:r>
            <a:r>
              <a:rPr lang="es-ES" sz="1400" dirty="0" err="1">
                <a:latin typeface="Times New Roman" panose="02020603050405020304" pitchFamily="18" charset="0"/>
                <a:cs typeface="Times New Roman" panose="02020603050405020304" pitchFamily="18" charset="0"/>
              </a:rPr>
              <a:t>drop</a:t>
            </a:r>
            <a:r>
              <a:rPr lang="es-ES" sz="1400" dirty="0">
                <a:latin typeface="Times New Roman" panose="02020603050405020304" pitchFamily="18" charset="0"/>
                <a:cs typeface="Times New Roman" panose="02020603050405020304" pitchFamily="18" charset="0"/>
              </a:rPr>
              <a:t>.</a:t>
            </a:r>
          </a:p>
          <a:p>
            <a:pPr algn="just"/>
            <a:r>
              <a:rPr lang="es-ES" sz="1400" dirty="0">
                <a:latin typeface="Times New Roman" panose="02020603050405020304" pitchFamily="18" charset="0"/>
                <a:cs typeface="Times New Roman" panose="02020603050405020304" pitchFamily="18" charset="0"/>
              </a:rPr>
              <a:t>La respuesta es periódica debido a la recirculación de la luz dentro del anillo. En las longitudes de onda de resonancia, la fase acumulada tras una vuelta completa es múltiplo de 2π (2πm). En esas condiciones, la luz se acopla eficientemente al anillo, produciendo mínimos en el puerto </a:t>
            </a:r>
            <a:r>
              <a:rPr lang="es-ES" sz="1400" dirty="0" err="1">
                <a:latin typeface="Times New Roman" panose="02020603050405020304" pitchFamily="18" charset="0"/>
                <a:cs typeface="Times New Roman" panose="02020603050405020304" pitchFamily="18" charset="0"/>
              </a:rPr>
              <a:t>through</a:t>
            </a:r>
            <a:r>
              <a:rPr lang="es-ES" sz="1400" dirty="0">
                <a:latin typeface="Times New Roman" panose="02020603050405020304" pitchFamily="18" charset="0"/>
                <a:cs typeface="Times New Roman" panose="02020603050405020304" pitchFamily="18" charset="0"/>
              </a:rPr>
              <a:t> (</a:t>
            </a:r>
            <a:r>
              <a:rPr lang="es-ES" sz="1400" dirty="0" err="1">
                <a:latin typeface="Times New Roman" panose="02020603050405020304" pitchFamily="18" charset="0"/>
                <a:cs typeface="Times New Roman" panose="02020603050405020304" pitchFamily="18" charset="0"/>
              </a:rPr>
              <a:t>dips</a:t>
            </a:r>
            <a:r>
              <a:rPr lang="es-ES" sz="1400" dirty="0">
                <a:latin typeface="Times New Roman" panose="02020603050405020304" pitchFamily="18" charset="0"/>
                <a:cs typeface="Times New Roman" panose="02020603050405020304" pitchFamily="18" charset="0"/>
              </a:rPr>
              <a:t>) y máximos en el puerto </a:t>
            </a:r>
            <a:r>
              <a:rPr lang="es-ES" sz="1400" dirty="0" err="1">
                <a:latin typeface="Times New Roman" panose="02020603050405020304" pitchFamily="18" charset="0"/>
                <a:cs typeface="Times New Roman" panose="02020603050405020304" pitchFamily="18" charset="0"/>
              </a:rPr>
              <a:t>drop</a:t>
            </a:r>
            <a:r>
              <a:rPr lang="es-ES" sz="1400" dirty="0">
                <a:latin typeface="Times New Roman" panose="02020603050405020304" pitchFamily="18" charset="0"/>
                <a:cs typeface="Times New Roman" panose="02020603050405020304" pitchFamily="18" charset="0"/>
              </a:rPr>
              <a:t>.</a:t>
            </a:r>
          </a:p>
          <a:p>
            <a:pPr algn="just"/>
            <a:r>
              <a:rPr lang="es-ES" sz="1400" dirty="0">
                <a:latin typeface="Times New Roman" panose="02020603050405020304" pitchFamily="18" charset="0"/>
                <a:cs typeface="Times New Roman" panose="02020603050405020304" pitchFamily="18" charset="0"/>
              </a:rPr>
              <a:t>El FSR se obtiene como la separación entre dos resonancias consecutivas. En la gráfica se observa una separación aproximada de 24 nm.</a:t>
            </a:r>
          </a:p>
          <a:p>
            <a:pPr algn="just"/>
            <a:endParaRPr lang="es-ES" sz="1400" dirty="0">
              <a:latin typeface="Times New Roman" panose="02020603050405020304" pitchFamily="18" charset="0"/>
              <a:cs typeface="Times New Roman" panose="02020603050405020304" pitchFamily="18" charset="0"/>
            </a:endParaRPr>
          </a:p>
          <a:p>
            <a:pPr algn="just"/>
            <a:r>
              <a:rPr lang="es-ES" sz="1400" dirty="0">
                <a:latin typeface="Times New Roman" panose="02020603050405020304" pitchFamily="18" charset="0"/>
                <a:cs typeface="Times New Roman" panose="02020603050405020304" pitchFamily="18" charset="0"/>
              </a:rPr>
              <a:t>Teóricamente:</a:t>
            </a:r>
          </a:p>
          <a:p>
            <a:pPr algn="just"/>
            <a:endParaRPr lang="es-ES" sz="1400" dirty="0">
              <a:latin typeface="Times New Roman" panose="02020603050405020304" pitchFamily="18" charset="0"/>
              <a:cs typeface="Times New Roman" panose="02020603050405020304" pitchFamily="18" charset="0"/>
            </a:endParaRPr>
          </a:p>
          <a:p>
            <a:pPr algn="just"/>
            <a:r>
              <a:rPr lang="es-ES" sz="1400" dirty="0">
                <a:latin typeface="Times New Roman" panose="02020603050405020304" pitchFamily="18" charset="0"/>
                <a:cs typeface="Times New Roman" panose="02020603050405020304" pitchFamily="18" charset="0"/>
              </a:rPr>
              <a:t>FSR ≈ λ0² / (ng · Lring)</a:t>
            </a:r>
          </a:p>
          <a:p>
            <a:pPr algn="just"/>
            <a:endParaRPr lang="es-ES" sz="1400" dirty="0">
              <a:latin typeface="Times New Roman" panose="02020603050405020304" pitchFamily="18" charset="0"/>
              <a:cs typeface="Times New Roman" panose="02020603050405020304" pitchFamily="18" charset="0"/>
            </a:endParaRPr>
          </a:p>
          <a:p>
            <a:pPr algn="just"/>
            <a:r>
              <a:rPr lang="es-ES" sz="1400" dirty="0">
                <a:latin typeface="Times New Roman" panose="02020603050405020304" pitchFamily="18" charset="0"/>
                <a:cs typeface="Times New Roman" panose="02020603050405020304" pitchFamily="18" charset="0"/>
              </a:rPr>
              <a:t>Usando λ0 = 1550 nm = 1.55 µm, ng = 2.0 y Lring = 50 µm:</a:t>
            </a:r>
          </a:p>
          <a:p>
            <a:pPr algn="just"/>
            <a:r>
              <a:rPr lang="es-ES" sz="1400" dirty="0">
                <a:latin typeface="Times New Roman" panose="02020603050405020304" pitchFamily="18" charset="0"/>
                <a:cs typeface="Times New Roman" panose="02020603050405020304" pitchFamily="18" charset="0"/>
              </a:rPr>
              <a:t>FSR ≈ 0.024 µm = 24 nm</a:t>
            </a:r>
          </a:p>
          <a:p>
            <a:pPr algn="just"/>
            <a:endParaRPr lang="es-ES" sz="1400" dirty="0">
              <a:latin typeface="Times New Roman" panose="02020603050405020304" pitchFamily="18" charset="0"/>
              <a:cs typeface="Times New Roman" panose="02020603050405020304" pitchFamily="18" charset="0"/>
            </a:endParaRPr>
          </a:p>
          <a:p>
            <a:pPr algn="just"/>
            <a:r>
              <a:rPr lang="es-ES" sz="1400" dirty="0">
                <a:latin typeface="Times New Roman" panose="02020603050405020304" pitchFamily="18" charset="0"/>
                <a:cs typeface="Times New Roman" panose="02020603050405020304" pitchFamily="18" charset="0"/>
              </a:rPr>
              <a:t>Por tanto, el valor obtenido en la simulación coincide con el cálculo teórico. Además, se confirma que el FSR es inversamente proporcional al perímetro del anillo: cuanto mayor es Lring, menor es el FSR.</a:t>
            </a:r>
            <a:endParaRPr lang="en-US" sz="1200" dirty="0">
              <a:latin typeface="Arial" panose="020B0604020202020204" pitchFamily="34" charset="0"/>
              <a:cs typeface="Arial" panose="020B0604020202020204" pitchFamily="34" charset="0"/>
            </a:endParaRPr>
          </a:p>
        </p:txBody>
      </p:sp>
      <p:sp>
        <p:nvSpPr>
          <p:cNvPr id="10" name="object 16">
            <a:extLst>
              <a:ext uri="{FF2B5EF4-FFF2-40B4-BE49-F238E27FC236}">
                <a16:creationId xmlns:a16="http://schemas.microsoft.com/office/drawing/2014/main" id="{C319E249-48A9-70AD-7ACE-23CF9ABF6137}"/>
              </a:ext>
            </a:extLst>
          </p:cNvPr>
          <p:cNvSpPr txBox="1">
            <a:spLocks/>
          </p:cNvSpPr>
          <p:nvPr/>
        </p:nvSpPr>
        <p:spPr>
          <a:xfrm>
            <a:off x="228600" y="144532"/>
            <a:ext cx="5334000" cy="410369"/>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1400" kern="0" dirty="0"/>
              <a:t>Learning outcome #4 – Ring Resonator</a:t>
            </a:r>
          </a:p>
          <a:p>
            <a:pPr marL="12700">
              <a:spcBef>
                <a:spcPts val="100"/>
              </a:spcBef>
            </a:pPr>
            <a:r>
              <a:rPr lang="en-US" sz="1100" b="0" kern="0" spc="-5" dirty="0">
                <a:latin typeface="+mj-lt"/>
                <a:cs typeface="Lucida Sans"/>
              </a:rPr>
              <a:t>Single ring resonator – most simple case Constant coupler K (no wavelength variation)</a:t>
            </a:r>
          </a:p>
        </p:txBody>
      </p:sp>
      <p:pic>
        <p:nvPicPr>
          <p:cNvPr id="13" name="Imagen 12">
            <a:extLst>
              <a:ext uri="{FF2B5EF4-FFF2-40B4-BE49-F238E27FC236}">
                <a16:creationId xmlns:a16="http://schemas.microsoft.com/office/drawing/2014/main" id="{13B604AA-BB87-8E9E-5BCC-2343A5A5E5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705288"/>
            <a:ext cx="6424019" cy="3447424"/>
          </a:xfrm>
          <a:prstGeom prst="rect">
            <a:avLst/>
          </a:prstGeom>
        </p:spPr>
      </p:pic>
    </p:spTree>
    <p:extLst>
      <p:ext uri="{BB962C8B-B14F-4D97-AF65-F5344CB8AC3E}">
        <p14:creationId xmlns:p14="http://schemas.microsoft.com/office/powerpoint/2010/main" val="5431845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CA2DF-810F-7BDA-CFF3-0CFEE760301A}"/>
            </a:ext>
          </a:extLst>
        </p:cNvPr>
        <p:cNvGrpSpPr/>
        <p:nvPr/>
      </p:nvGrpSpPr>
      <p:grpSpPr>
        <a:xfrm>
          <a:off x="0" y="0"/>
          <a:ext cx="0" cy="0"/>
          <a:chOff x="0" y="0"/>
          <a:chExt cx="0" cy="0"/>
        </a:xfrm>
      </p:grpSpPr>
      <p:sp>
        <p:nvSpPr>
          <p:cNvPr id="6" name="Marcador de número de diapositiva 5">
            <a:extLst>
              <a:ext uri="{FF2B5EF4-FFF2-40B4-BE49-F238E27FC236}">
                <a16:creationId xmlns:a16="http://schemas.microsoft.com/office/drawing/2014/main" id="{E919F9EF-02D5-71FC-C2BC-F8EC5B26723E}"/>
              </a:ext>
            </a:extLst>
          </p:cNvPr>
          <p:cNvSpPr>
            <a:spLocks noGrp="1"/>
          </p:cNvSpPr>
          <p:nvPr>
            <p:ph type="sldNum" sz="quarter" idx="7"/>
          </p:nvPr>
        </p:nvSpPr>
        <p:spPr/>
        <p:txBody>
          <a:bodyPr/>
          <a:lstStyle/>
          <a:p>
            <a:fld id="{C2F52289-4012-4053-9770-FE82CEB9514F}" type="slidenum">
              <a:rPr lang="en-US" smtClean="0"/>
              <a:pPr/>
              <a:t>8</a:t>
            </a:fld>
            <a:endParaRPr lang="en-US" dirty="0"/>
          </a:p>
        </p:txBody>
      </p:sp>
      <p:sp>
        <p:nvSpPr>
          <p:cNvPr id="8" name="CuadroTexto 7">
            <a:extLst>
              <a:ext uri="{FF2B5EF4-FFF2-40B4-BE49-F238E27FC236}">
                <a16:creationId xmlns:a16="http://schemas.microsoft.com/office/drawing/2014/main" id="{3BC6D2B9-07F5-E2FA-C9AD-029B63B098DA}"/>
              </a:ext>
            </a:extLst>
          </p:cNvPr>
          <p:cNvSpPr txBox="1"/>
          <p:nvPr/>
        </p:nvSpPr>
        <p:spPr>
          <a:xfrm>
            <a:off x="6585601" y="304468"/>
            <a:ext cx="5028759" cy="6309420"/>
          </a:xfrm>
          <a:prstGeom prst="rect">
            <a:avLst/>
          </a:prstGeom>
          <a:solidFill>
            <a:schemeClr val="bg1">
              <a:lumMod val="95000"/>
            </a:schemeClr>
          </a:solidFill>
          <a:ln w="28575">
            <a:solidFill>
              <a:srgbClr val="E0700D"/>
            </a:solidFill>
          </a:ln>
        </p:spPr>
        <p:txBody>
          <a:bodyPr wrap="square" rtlCol="0">
            <a:spAutoFit/>
          </a:bodyPr>
          <a:lstStyle/>
          <a:p>
            <a:pPr algn="just"/>
            <a:r>
              <a:rPr lang="es-ES" sz="1400" dirty="0">
                <a:latin typeface="Times New Roman" panose="02020603050405020304" pitchFamily="18" charset="0"/>
                <a:cs typeface="Times New Roman" panose="02020603050405020304" pitchFamily="18" charset="0"/>
              </a:rPr>
              <a:t>En este ejercicio se diseña un anillo resonador a partir de la condición de un FSR de 15 nm en  λ0 = 1550 nm.</a:t>
            </a:r>
          </a:p>
          <a:p>
            <a:pPr algn="just"/>
            <a:endParaRPr lang="es-ES" sz="1400" dirty="0">
              <a:latin typeface="Times New Roman" panose="02020603050405020304" pitchFamily="18" charset="0"/>
              <a:cs typeface="Times New Roman" panose="02020603050405020304" pitchFamily="18" charset="0"/>
            </a:endParaRPr>
          </a:p>
          <a:p>
            <a:pPr algn="just"/>
            <a:r>
              <a:rPr lang="es-ES" sz="1400" dirty="0">
                <a:latin typeface="Times New Roman" panose="02020603050405020304" pitchFamily="18" charset="0"/>
                <a:cs typeface="Times New Roman" panose="02020603050405020304" pitchFamily="18" charset="0"/>
              </a:rPr>
              <a:t>La relación entre el FSR y </a:t>
            </a:r>
            <a:r>
              <a:rPr lang="es-ES" sz="1400" dirty="0" err="1">
                <a:latin typeface="Times New Roman" panose="02020603050405020304" pitchFamily="18" charset="0"/>
                <a:cs typeface="Times New Roman" panose="02020603050405020304" pitchFamily="18" charset="0"/>
              </a:rPr>
              <a:t>L_ring</a:t>
            </a:r>
            <a:r>
              <a:rPr lang="es-ES" sz="1400" dirty="0">
                <a:latin typeface="Times New Roman" panose="02020603050405020304" pitchFamily="18" charset="0"/>
                <a:cs typeface="Times New Roman" panose="02020603050405020304" pitchFamily="18" charset="0"/>
              </a:rPr>
              <a:t> es:</a:t>
            </a:r>
          </a:p>
          <a:p>
            <a:pPr algn="just"/>
            <a:endParaRPr lang="es-ES" sz="1400" dirty="0">
              <a:latin typeface="Times New Roman" panose="02020603050405020304" pitchFamily="18" charset="0"/>
              <a:cs typeface="Times New Roman" panose="02020603050405020304" pitchFamily="18" charset="0"/>
            </a:endParaRPr>
          </a:p>
          <a:p>
            <a:pPr algn="just"/>
            <a:r>
              <a:rPr lang="es-ES" sz="1400" dirty="0">
                <a:latin typeface="Times New Roman" panose="02020603050405020304" pitchFamily="18" charset="0"/>
                <a:cs typeface="Times New Roman" panose="02020603050405020304" pitchFamily="18" charset="0"/>
              </a:rPr>
              <a:t>FSR ≈ λ0² / (ng · Lring)</a:t>
            </a:r>
          </a:p>
          <a:p>
            <a:pPr algn="just"/>
            <a:endParaRPr lang="es-ES" sz="1400" dirty="0">
              <a:latin typeface="Times New Roman" panose="02020603050405020304" pitchFamily="18" charset="0"/>
              <a:cs typeface="Times New Roman" panose="02020603050405020304" pitchFamily="18" charset="0"/>
            </a:endParaRPr>
          </a:p>
          <a:p>
            <a:pPr algn="just"/>
            <a:r>
              <a:rPr lang="es-ES" sz="1400" dirty="0">
                <a:latin typeface="Times New Roman" panose="02020603050405020304" pitchFamily="18" charset="0"/>
                <a:cs typeface="Times New Roman" panose="02020603050405020304" pitchFamily="18" charset="0"/>
              </a:rPr>
              <a:t>Despejando:</a:t>
            </a:r>
          </a:p>
          <a:p>
            <a:pPr algn="just"/>
            <a:endParaRPr lang="es-ES" sz="1400" dirty="0">
              <a:latin typeface="Times New Roman" panose="02020603050405020304" pitchFamily="18" charset="0"/>
              <a:cs typeface="Times New Roman" panose="02020603050405020304" pitchFamily="18" charset="0"/>
            </a:endParaRPr>
          </a:p>
          <a:p>
            <a:pPr algn="just"/>
            <a:r>
              <a:rPr lang="es-ES" sz="1400" dirty="0">
                <a:latin typeface="Times New Roman" panose="02020603050405020304" pitchFamily="18" charset="0"/>
                <a:cs typeface="Times New Roman" panose="02020603050405020304" pitchFamily="18" charset="0"/>
              </a:rPr>
              <a:t>Lring ≈ λ0² / (ng · FSR)</a:t>
            </a:r>
          </a:p>
          <a:p>
            <a:pPr algn="just"/>
            <a:r>
              <a:rPr lang="es-ES" sz="1400" dirty="0">
                <a:latin typeface="Times New Roman" panose="02020603050405020304" pitchFamily="18" charset="0"/>
                <a:cs typeface="Times New Roman" panose="02020603050405020304" pitchFamily="18" charset="0"/>
              </a:rPr>
              <a:t>Lring = 1.55² / (2.0 · 0.015) = 80.08 µm</a:t>
            </a:r>
          </a:p>
          <a:p>
            <a:pPr algn="just"/>
            <a:endParaRPr lang="es-ES" sz="1400" dirty="0">
              <a:latin typeface="Times New Roman" panose="02020603050405020304" pitchFamily="18" charset="0"/>
              <a:cs typeface="Times New Roman" panose="02020603050405020304" pitchFamily="18" charset="0"/>
            </a:endParaRPr>
          </a:p>
          <a:p>
            <a:pPr algn="just"/>
            <a:r>
              <a:rPr lang="es-ES" sz="1400" dirty="0">
                <a:latin typeface="Times New Roman" panose="02020603050405020304" pitchFamily="18" charset="0"/>
                <a:cs typeface="Times New Roman" panose="02020603050405020304" pitchFamily="18" charset="0"/>
              </a:rPr>
              <a:t>Por tanto, Lring ≈ 80.08 µm.</a:t>
            </a:r>
          </a:p>
          <a:p>
            <a:pPr algn="just"/>
            <a:endParaRPr lang="es-ES" sz="1400" dirty="0">
              <a:latin typeface="Times New Roman" panose="02020603050405020304" pitchFamily="18" charset="0"/>
              <a:cs typeface="Times New Roman" panose="02020603050405020304" pitchFamily="18" charset="0"/>
            </a:endParaRPr>
          </a:p>
          <a:p>
            <a:pPr algn="just"/>
            <a:r>
              <a:rPr lang="es-ES" sz="1400" dirty="0">
                <a:latin typeface="Times New Roman" panose="02020603050405020304" pitchFamily="18" charset="0"/>
                <a:cs typeface="Times New Roman" panose="02020603050405020304" pitchFamily="18" charset="0"/>
              </a:rPr>
              <a:t>La función de transferencia muestra mínimos periódicos de transmisión, correspondientes a las resonancias del anillo. En esas longitudes de onda, la fase acumulada tras una vuelta completa es múltiplo de 2π y la luz se acopla eficientemente al resonador.</a:t>
            </a:r>
          </a:p>
          <a:p>
            <a:pPr algn="just"/>
            <a:endParaRPr lang="es-ES" sz="1400" dirty="0">
              <a:latin typeface="Times New Roman" panose="02020603050405020304" pitchFamily="18" charset="0"/>
              <a:cs typeface="Times New Roman" panose="02020603050405020304" pitchFamily="18" charset="0"/>
            </a:endParaRPr>
          </a:p>
          <a:p>
            <a:pPr algn="just"/>
            <a:r>
              <a:rPr lang="es-ES" sz="1400" dirty="0">
                <a:latin typeface="Times New Roman" panose="02020603050405020304" pitchFamily="18" charset="0"/>
                <a:cs typeface="Times New Roman" panose="02020603050405020304" pitchFamily="18" charset="0"/>
              </a:rPr>
              <a:t>El FSR observado en la gráfica es aproximadamente 15 nm, por lo que el diseño coincide con el objetivo. El coeficiente de acoplo K no modifica el FSR, ya que el FSR depende principalmente de ng y de </a:t>
            </a:r>
            <a:r>
              <a:rPr lang="es-ES" sz="1400" dirty="0" err="1">
                <a:latin typeface="Times New Roman" panose="02020603050405020304" pitchFamily="18" charset="0"/>
                <a:cs typeface="Times New Roman" panose="02020603050405020304" pitchFamily="18" charset="0"/>
              </a:rPr>
              <a:t>L_ring</a:t>
            </a:r>
            <a:r>
              <a:rPr lang="es-ES" sz="1400" dirty="0">
                <a:latin typeface="Times New Roman" panose="02020603050405020304" pitchFamily="18" charset="0"/>
                <a:cs typeface="Times New Roman" panose="02020603050405020304" pitchFamily="18" charset="0"/>
              </a:rPr>
              <a:t>. Sin embargo, K sí modifica la profundidad y la anchura de las resonancias.</a:t>
            </a:r>
          </a:p>
          <a:p>
            <a:pPr algn="just"/>
            <a:endParaRPr lang="es-ES" sz="1400" dirty="0">
              <a:latin typeface="Times New Roman" panose="02020603050405020304" pitchFamily="18" charset="0"/>
              <a:cs typeface="Times New Roman" panose="02020603050405020304" pitchFamily="18" charset="0"/>
            </a:endParaRPr>
          </a:p>
          <a:p>
            <a:pPr algn="just"/>
            <a:r>
              <a:rPr lang="es-ES" sz="1400" dirty="0">
                <a:latin typeface="Times New Roman" panose="02020603050405020304" pitchFamily="18" charset="0"/>
                <a:cs typeface="Times New Roman" panose="02020603050405020304" pitchFamily="18" charset="0"/>
              </a:rPr>
              <a:t>Para K = 0.5, las resonancias son visibles y presentan un </a:t>
            </a:r>
            <a:r>
              <a:rPr lang="es-ES" sz="1400" dirty="0" err="1">
                <a:latin typeface="Times New Roman" panose="02020603050405020304" pitchFamily="18" charset="0"/>
                <a:cs typeface="Times New Roman" panose="02020603050405020304" pitchFamily="18" charset="0"/>
              </a:rPr>
              <a:t>extinction</a:t>
            </a:r>
            <a:r>
              <a:rPr lang="es-ES" sz="1400" dirty="0">
                <a:latin typeface="Times New Roman" panose="02020603050405020304" pitchFamily="18" charset="0"/>
                <a:cs typeface="Times New Roman" panose="02020603050405020304" pitchFamily="18" charset="0"/>
              </a:rPr>
              <a:t> ratio de 10.120 dB. El </a:t>
            </a:r>
            <a:r>
              <a:rPr lang="es-ES" sz="1400" dirty="0" err="1">
                <a:latin typeface="Times New Roman" panose="02020603050405020304" pitchFamily="18" charset="0"/>
                <a:cs typeface="Times New Roman" panose="02020603050405020304" pitchFamily="18" charset="0"/>
              </a:rPr>
              <a:t>critical</a:t>
            </a:r>
            <a:r>
              <a:rPr lang="es-ES" sz="1400" dirty="0">
                <a:latin typeface="Times New Roman" panose="02020603050405020304" pitchFamily="18" charset="0"/>
                <a:cs typeface="Times New Roman" panose="02020603050405020304" pitchFamily="18" charset="0"/>
              </a:rPr>
              <a:t> </a:t>
            </a:r>
            <a:r>
              <a:rPr lang="es-ES" sz="1400" dirty="0" err="1">
                <a:latin typeface="Times New Roman" panose="02020603050405020304" pitchFamily="18" charset="0"/>
                <a:cs typeface="Times New Roman" panose="02020603050405020304" pitchFamily="18" charset="0"/>
              </a:rPr>
              <a:t>coupling</a:t>
            </a:r>
            <a:r>
              <a:rPr lang="es-ES" sz="1400" dirty="0">
                <a:latin typeface="Times New Roman" panose="02020603050405020304" pitchFamily="18" charset="0"/>
                <a:cs typeface="Times New Roman" panose="02020603050405020304" pitchFamily="18" charset="0"/>
              </a:rPr>
              <a:t> se alcanza cuando las pérdidas de acoplo igualan las pérdidas internas del anillo. </a:t>
            </a:r>
            <a:endParaRPr lang="en-US" sz="1400" dirty="0">
              <a:latin typeface="Times New Roman" panose="02020603050405020304" pitchFamily="18" charset="0"/>
              <a:cs typeface="Times New Roman" panose="02020603050405020304" pitchFamily="18" charset="0"/>
            </a:endParaRPr>
          </a:p>
          <a:p>
            <a:pPr algn="just"/>
            <a:r>
              <a:rPr lang="en-US" sz="1200" dirty="0">
                <a:latin typeface="Arial" panose="020B0604020202020204" pitchFamily="34" charset="0"/>
                <a:cs typeface="Arial" panose="020B0604020202020204" pitchFamily="34" charset="0"/>
              </a:rPr>
              <a:t> </a:t>
            </a:r>
          </a:p>
        </p:txBody>
      </p:sp>
      <p:sp>
        <p:nvSpPr>
          <p:cNvPr id="14" name="object 16">
            <a:extLst>
              <a:ext uri="{FF2B5EF4-FFF2-40B4-BE49-F238E27FC236}">
                <a16:creationId xmlns:a16="http://schemas.microsoft.com/office/drawing/2014/main" id="{4E9E05B5-9445-DD50-60E9-03B04ED264D4}"/>
              </a:ext>
            </a:extLst>
          </p:cNvPr>
          <p:cNvSpPr txBox="1">
            <a:spLocks/>
          </p:cNvSpPr>
          <p:nvPr/>
        </p:nvSpPr>
        <p:spPr>
          <a:xfrm>
            <a:off x="248138" y="95738"/>
            <a:ext cx="6000262" cy="228268"/>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1400" kern="0" dirty="0"/>
              <a:t>Learning outcome #5 – Ring resonator design </a:t>
            </a:r>
            <a:r>
              <a:rPr lang="en-US" sz="1100" b="0" kern="0" spc="-5" dirty="0" err="1">
                <a:latin typeface="+mj-lt"/>
                <a:cs typeface="Lucida Sans"/>
              </a:rPr>
              <a:t>Design</a:t>
            </a:r>
            <a:r>
              <a:rPr lang="en-US" sz="1100" b="0" kern="0" spc="-5" dirty="0">
                <a:latin typeface="+mj-lt"/>
                <a:cs typeface="Lucida Sans"/>
              </a:rPr>
              <a:t> the perimeter for a FSR = 15 nm. </a:t>
            </a:r>
          </a:p>
        </p:txBody>
      </p:sp>
      <p:pic>
        <p:nvPicPr>
          <p:cNvPr id="4" name="Imagen 3">
            <a:extLst>
              <a:ext uri="{FF2B5EF4-FFF2-40B4-BE49-F238E27FC236}">
                <a16:creationId xmlns:a16="http://schemas.microsoft.com/office/drawing/2014/main" id="{37505239-F867-C95E-586F-4BA73FC8B86E}"/>
              </a:ext>
            </a:extLst>
          </p:cNvPr>
          <p:cNvPicPr>
            <a:picLocks noChangeAspect="1"/>
          </p:cNvPicPr>
          <p:nvPr/>
        </p:nvPicPr>
        <p:blipFill>
          <a:blip r:embed="rId2"/>
          <a:stretch>
            <a:fillRect/>
          </a:stretch>
        </p:blipFill>
        <p:spPr>
          <a:xfrm>
            <a:off x="457200" y="5392616"/>
            <a:ext cx="3151279" cy="1371600"/>
          </a:xfrm>
          <a:prstGeom prst="rect">
            <a:avLst/>
          </a:prstGeom>
        </p:spPr>
      </p:pic>
      <p:pic>
        <p:nvPicPr>
          <p:cNvPr id="9" name="Imagen 8">
            <a:extLst>
              <a:ext uri="{FF2B5EF4-FFF2-40B4-BE49-F238E27FC236}">
                <a16:creationId xmlns:a16="http://schemas.microsoft.com/office/drawing/2014/main" id="{9FCCDC6F-90B5-9CA4-C939-8C97E1F332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390245"/>
            <a:ext cx="5028758" cy="2491498"/>
          </a:xfrm>
          <a:prstGeom prst="rect">
            <a:avLst/>
          </a:prstGeom>
        </p:spPr>
      </p:pic>
      <p:pic>
        <p:nvPicPr>
          <p:cNvPr id="17" name="Imagen 16">
            <a:extLst>
              <a:ext uri="{FF2B5EF4-FFF2-40B4-BE49-F238E27FC236}">
                <a16:creationId xmlns:a16="http://schemas.microsoft.com/office/drawing/2014/main" id="{12D9EF69-84CF-33A6-ADDA-3906916CEBB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8600" y="2850183"/>
            <a:ext cx="5028757" cy="2491498"/>
          </a:xfrm>
          <a:prstGeom prst="rect">
            <a:avLst/>
          </a:prstGeom>
        </p:spPr>
      </p:pic>
      <p:pic>
        <p:nvPicPr>
          <p:cNvPr id="19" name="Imagen 18">
            <a:extLst>
              <a:ext uri="{FF2B5EF4-FFF2-40B4-BE49-F238E27FC236}">
                <a16:creationId xmlns:a16="http://schemas.microsoft.com/office/drawing/2014/main" id="{5F46BAA3-4339-1889-A56D-D78F560A9E8A}"/>
              </a:ext>
            </a:extLst>
          </p:cNvPr>
          <p:cNvPicPr>
            <a:picLocks noChangeAspect="1"/>
          </p:cNvPicPr>
          <p:nvPr/>
        </p:nvPicPr>
        <p:blipFill>
          <a:blip r:embed="rId5"/>
          <a:stretch>
            <a:fillRect/>
          </a:stretch>
        </p:blipFill>
        <p:spPr>
          <a:xfrm>
            <a:off x="3810000" y="5863494"/>
            <a:ext cx="2362530" cy="685896"/>
          </a:xfrm>
          <a:prstGeom prst="rect">
            <a:avLst/>
          </a:prstGeom>
        </p:spPr>
      </p:pic>
    </p:spTree>
    <p:extLst>
      <p:ext uri="{BB962C8B-B14F-4D97-AF65-F5344CB8AC3E}">
        <p14:creationId xmlns:p14="http://schemas.microsoft.com/office/powerpoint/2010/main" val="29159892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9</a:t>
            </a:fld>
            <a:endParaRPr lang="en-US" dirty="0"/>
          </a:p>
        </p:txBody>
      </p:sp>
      <mc:AlternateContent xmlns:mc="http://schemas.openxmlformats.org/markup-compatibility/2006">
        <mc:Choice xmlns:a14="http://schemas.microsoft.com/office/drawing/2010/main" Requires="a14">
          <p:sp>
            <p:nvSpPr>
              <p:cNvPr id="8" name="CuadroTexto 7">
                <a:extLst>
                  <a:ext uri="{FF2B5EF4-FFF2-40B4-BE49-F238E27FC236}">
                    <a16:creationId xmlns:a16="http://schemas.microsoft.com/office/drawing/2014/main" id="{D9601617-351E-AE1A-1F4D-693F2EA59361}"/>
                  </a:ext>
                </a:extLst>
              </p:cNvPr>
              <p:cNvSpPr txBox="1"/>
              <p:nvPr/>
            </p:nvSpPr>
            <p:spPr>
              <a:xfrm>
                <a:off x="6758940" y="217206"/>
                <a:ext cx="5105400" cy="6340197"/>
              </a:xfrm>
              <a:prstGeom prst="rect">
                <a:avLst/>
              </a:prstGeom>
              <a:solidFill>
                <a:schemeClr val="bg1">
                  <a:lumMod val="95000"/>
                </a:schemeClr>
              </a:solidFill>
              <a:ln w="28575">
                <a:solidFill>
                  <a:srgbClr val="E0700D"/>
                </a:solidFill>
              </a:ln>
            </p:spPr>
            <p:txBody>
              <a:bodyPr wrap="square" rtlCol="0">
                <a:spAutoFit/>
              </a:bodyPr>
              <a:lstStyle/>
              <a:p>
                <a:pPr algn="just"/>
                <a:r>
                  <a:rPr lang="es-ES" sz="1400" dirty="0">
                    <a:latin typeface="Times New Roman" panose="02020603050405020304" pitchFamily="18" charset="0"/>
                    <a:cs typeface="Times New Roman" panose="02020603050405020304" pitchFamily="18" charset="0"/>
                  </a:rPr>
                  <a:t>En este ejercicio se estudia el efecto del coeficiente de acoplo K en la respuesta de un anillo resonador. Se ha mantenido constante el Lring = 80.083 µm, por lo que la posición de las resonancias y el FSR prácticamente no cambian. Lo que cambia al variar K es la profundidad de los mínimos (</a:t>
                </a:r>
                <a:r>
                  <a:rPr lang="es-ES" sz="1400" dirty="0" err="1">
                    <a:latin typeface="Times New Roman" panose="02020603050405020304" pitchFamily="18" charset="0"/>
                    <a:cs typeface="Times New Roman" panose="02020603050405020304" pitchFamily="18" charset="0"/>
                  </a:rPr>
                  <a:t>dips</a:t>
                </a:r>
                <a:r>
                  <a:rPr lang="es-ES" sz="1400" dirty="0">
                    <a:latin typeface="Times New Roman" panose="02020603050405020304" pitchFamily="18" charset="0"/>
                    <a:cs typeface="Times New Roman" panose="02020603050405020304" pitchFamily="18" charset="0"/>
                  </a:rPr>
                  <a:t>) de transmisión y, por tanto, el </a:t>
                </a:r>
                <a:r>
                  <a:rPr lang="es-ES" sz="1400" dirty="0" err="1">
                    <a:latin typeface="Times New Roman" panose="02020603050405020304" pitchFamily="18" charset="0"/>
                    <a:cs typeface="Times New Roman" panose="02020603050405020304" pitchFamily="18" charset="0"/>
                  </a:rPr>
                  <a:t>extinction</a:t>
                </a:r>
                <a:r>
                  <a:rPr lang="es-ES" sz="1400" dirty="0">
                    <a:latin typeface="Times New Roman" panose="02020603050405020304" pitchFamily="18" charset="0"/>
                    <a:cs typeface="Times New Roman" panose="02020603050405020304" pitchFamily="18" charset="0"/>
                  </a:rPr>
                  <a:t> ratio.</a:t>
                </a:r>
              </a:p>
              <a:p>
                <a:pPr algn="just"/>
                <a:endParaRPr lang="es-ES" sz="1400" dirty="0">
                  <a:latin typeface="Times New Roman" panose="02020603050405020304" pitchFamily="18" charset="0"/>
                  <a:cs typeface="Times New Roman" panose="02020603050405020304" pitchFamily="18" charset="0"/>
                </a:endParaRPr>
              </a:p>
              <a:p>
                <a:pPr algn="just"/>
                <a:r>
                  <a:rPr lang="es-ES" sz="1400" dirty="0">
                    <a:latin typeface="Times New Roman" panose="02020603050405020304" pitchFamily="18" charset="0"/>
                    <a:cs typeface="Times New Roman" panose="02020603050405020304" pitchFamily="18" charset="0"/>
                  </a:rPr>
                  <a:t>Para valores bajos de K, como K = 0.1 y K = 0.2, el anillo está en régimen </a:t>
                </a:r>
                <a:r>
                  <a:rPr lang="es-ES" sz="1400" dirty="0" err="1">
                    <a:latin typeface="Times New Roman" panose="02020603050405020304" pitchFamily="18" charset="0"/>
                    <a:cs typeface="Times New Roman" panose="02020603050405020304" pitchFamily="18" charset="0"/>
                  </a:rPr>
                  <a:t>Under-coupling</a:t>
                </a:r>
                <a:r>
                  <a:rPr lang="es-ES" sz="1400" dirty="0">
                    <a:latin typeface="Times New Roman" panose="02020603050405020304" pitchFamily="18" charset="0"/>
                    <a:cs typeface="Times New Roman" panose="02020603050405020304" pitchFamily="18" charset="0"/>
                  </a:rPr>
                  <a:t>. En este caso entra poca potencia al resonador y los mínimos de transmisión son poco profundos.</a:t>
                </a:r>
              </a:p>
              <a:p>
                <a:pPr algn="just"/>
                <a:r>
                  <a:rPr lang="es-ES" sz="1400" dirty="0">
                    <a:latin typeface="Times New Roman" panose="02020603050405020304" pitchFamily="18" charset="0"/>
                    <a:cs typeface="Times New Roman" panose="02020603050405020304" pitchFamily="18" charset="0"/>
                  </a:rPr>
                  <a:t>Al aumentar K, las resonancias se hacen más profundas. El caso más cercano al acoplo crítico es K = 0.3, ya que el valor teórico calculado es </a:t>
                </a:r>
                <a:r>
                  <a:rPr lang="es-ES" sz="1400" dirty="0" err="1">
                    <a:latin typeface="Times New Roman" panose="02020603050405020304" pitchFamily="18" charset="0"/>
                    <a:cs typeface="Times New Roman" panose="02020603050405020304" pitchFamily="18" charset="0"/>
                  </a:rPr>
                  <a:t>Kcrit</a:t>
                </a:r>
                <a:r>
                  <a:rPr lang="es-ES" sz="1400" dirty="0">
                    <a:latin typeface="Times New Roman" panose="02020603050405020304" pitchFamily="18" charset="0"/>
                    <a:cs typeface="Times New Roman" panose="02020603050405020304" pitchFamily="18" charset="0"/>
                  </a:rPr>
                  <a:t> = 0.3084. En este punto se obtiene el mínimo de transmisión más profundo y el mayor </a:t>
                </a:r>
                <a:r>
                  <a:rPr lang="es-ES" sz="1400" dirty="0" err="1">
                    <a:latin typeface="Times New Roman" panose="02020603050405020304" pitchFamily="18" charset="0"/>
                    <a:cs typeface="Times New Roman" panose="02020603050405020304" pitchFamily="18" charset="0"/>
                  </a:rPr>
                  <a:t>extinction</a:t>
                </a:r>
                <a:r>
                  <a:rPr lang="es-ES" sz="1400" dirty="0">
                    <a:latin typeface="Times New Roman" panose="02020603050405020304" pitchFamily="18" charset="0"/>
                    <a:cs typeface="Times New Roman" panose="02020603050405020304" pitchFamily="18" charset="0"/>
                  </a:rPr>
                  <a:t> ratio, ER = 35.446 dB.</a:t>
                </a:r>
              </a:p>
              <a:p>
                <a:pPr algn="just"/>
                <a:r>
                  <a:rPr lang="es-ES" sz="1400" dirty="0">
                    <a:latin typeface="Times New Roman" panose="02020603050405020304" pitchFamily="18" charset="0"/>
                    <a:cs typeface="Times New Roman" panose="02020603050405020304" pitchFamily="18" charset="0"/>
                  </a:rPr>
                  <a:t>Para valores mayores de K, desde K = 0.4 hasta K = 0.9, el anillo pasa a régimen Over-</a:t>
                </a:r>
                <a:r>
                  <a:rPr lang="es-ES" sz="1400" dirty="0" err="1">
                    <a:latin typeface="Times New Roman" panose="02020603050405020304" pitchFamily="18" charset="0"/>
                    <a:cs typeface="Times New Roman" panose="02020603050405020304" pitchFamily="18" charset="0"/>
                  </a:rPr>
                  <a:t>coupling</a:t>
                </a:r>
                <a:r>
                  <a:rPr lang="es-ES" sz="1400" dirty="0">
                    <a:latin typeface="Times New Roman" panose="02020603050405020304" pitchFamily="18" charset="0"/>
                    <a:cs typeface="Times New Roman" panose="02020603050405020304" pitchFamily="18" charset="0"/>
                  </a:rPr>
                  <a:t>. Aunque las resonancias siguen apareciendo, los mínimos dejan de ser tan profundos y el ER disminuye progresivamente.</a:t>
                </a:r>
              </a:p>
              <a:p>
                <a:pPr algn="just"/>
                <a:endParaRPr lang="es-ES" sz="1400" dirty="0">
                  <a:latin typeface="Times New Roman" panose="02020603050405020304" pitchFamily="18" charset="0"/>
                  <a:cs typeface="Times New Roman" panose="02020603050405020304" pitchFamily="18" charset="0"/>
                </a:endParaRPr>
              </a:p>
              <a:p>
                <a:pPr algn="just"/>
                <a:r>
                  <a:rPr lang="es-ES" sz="1400" dirty="0">
                    <a:latin typeface="Times New Roman" panose="02020603050405020304" pitchFamily="18" charset="0"/>
                    <a:cs typeface="Times New Roman" panose="02020603050405020304" pitchFamily="18" charset="0"/>
                  </a:rPr>
                  <a:t>Por tanto, el acoplo crítico se alcanza aproximadamente para K = 0.3, porque es el caso en el que las pérdidas de acoplo se igualan a las pérdidas internas del anillo y se obtiene la máxima cancelación en resonancia.</a:t>
                </a:r>
              </a:p>
              <a:p>
                <a:pPr algn="just"/>
                <a:endParaRPr lang="es-ES" sz="1400" dirty="0">
                  <a:latin typeface="Times New Roman" panose="02020603050405020304" pitchFamily="18" charset="0"/>
                  <a:cs typeface="Times New Roman" panose="02020603050405020304" pitchFamily="18" charset="0"/>
                </a:endParaRPr>
              </a:p>
              <a:p>
                <a:pPr algn="just"/>
                <a:r>
                  <a:rPr lang="es-ES" sz="1400" dirty="0">
                    <a:latin typeface="Times New Roman" panose="02020603050405020304" pitchFamily="18" charset="0"/>
                    <a:cs typeface="Times New Roman" panose="02020603050405020304" pitchFamily="18" charset="0"/>
                  </a:rPr>
                  <a:t>Esta grafica es muy interesante porque se ve claramente que al variar </a:t>
                </a:r>
                <a14:m>
                  <m:oMath xmlns:m="http://schemas.openxmlformats.org/officeDocument/2006/math">
                    <m:r>
                      <m:rPr>
                        <m:sty m:val="p"/>
                      </m:rPr>
                      <a:rPr lang="es-ES" sz="1400" b="0" i="0" smtClean="0">
                        <a:latin typeface="Cambria Math" panose="02040503050406030204" pitchFamily="18" charset="0"/>
                      </a:rPr>
                      <m:t>K</m:t>
                    </m:r>
                  </m:oMath>
                </a14:m>
                <a:r>
                  <a:rPr lang="es-ES" sz="1400" dirty="0">
                    <a:latin typeface="Times New Roman" panose="02020603050405020304" pitchFamily="18" charset="0"/>
                    <a:cs typeface="Times New Roman" panose="02020603050405020304" pitchFamily="18" charset="0"/>
                  </a:rPr>
                  <a:t>no cambia la posición de las resonancias, sino su profundidad y el </a:t>
                </a:r>
                <a:r>
                  <a:rPr lang="es-ES" sz="1400" dirty="0" err="1">
                    <a:latin typeface="Times New Roman" panose="02020603050405020304" pitchFamily="18" charset="0"/>
                    <a:cs typeface="Times New Roman" panose="02020603050405020304" pitchFamily="18" charset="0"/>
                  </a:rPr>
                  <a:t>Extinction</a:t>
                </a:r>
                <a:r>
                  <a:rPr lang="es-ES" sz="1400" dirty="0">
                    <a:latin typeface="Times New Roman" panose="02020603050405020304" pitchFamily="18" charset="0"/>
                    <a:cs typeface="Times New Roman" panose="02020603050405020304" pitchFamily="18" charset="0"/>
                  </a:rPr>
                  <a:t> Ratio.</a:t>
                </a:r>
                <a:endParaRPr lang="en-US" sz="1200" dirty="0">
                  <a:latin typeface="Arial" panose="020B0604020202020204" pitchFamily="34" charset="0"/>
                  <a:cs typeface="Arial" panose="020B0604020202020204" pitchFamily="34" charset="0"/>
                </a:endParaRPr>
              </a:p>
            </p:txBody>
          </p:sp>
        </mc:Choice>
        <mc:Fallback>
          <p:sp>
            <p:nvSpPr>
              <p:cNvPr id="8" name="CuadroTexto 7">
                <a:extLst>
                  <a:ext uri="{FF2B5EF4-FFF2-40B4-BE49-F238E27FC236}">
                    <a16:creationId xmlns:a16="http://schemas.microsoft.com/office/drawing/2014/main" id="{D9601617-351E-AE1A-1F4D-693F2EA59361}"/>
                  </a:ext>
                </a:extLst>
              </p:cNvPr>
              <p:cNvSpPr txBox="1">
                <a:spLocks noRot="1" noChangeAspect="1" noMove="1" noResize="1" noEditPoints="1" noAdjustHandles="1" noChangeArrowheads="1" noChangeShapeType="1" noTextEdit="1"/>
              </p:cNvSpPr>
              <p:nvPr/>
            </p:nvSpPr>
            <p:spPr>
              <a:xfrm>
                <a:off x="6758940" y="217206"/>
                <a:ext cx="5105400" cy="6340197"/>
              </a:xfrm>
              <a:prstGeom prst="rect">
                <a:avLst/>
              </a:prstGeom>
              <a:blipFill>
                <a:blip r:embed="rId2"/>
                <a:stretch>
                  <a:fillRect l="-119"/>
                </a:stretch>
              </a:blipFill>
              <a:ln w="28575">
                <a:solidFill>
                  <a:srgbClr val="E0700D"/>
                </a:solidFill>
              </a:ln>
            </p:spPr>
            <p:txBody>
              <a:bodyPr/>
              <a:lstStyle/>
              <a:p>
                <a:r>
                  <a:rPr lang="es-ES">
                    <a:noFill/>
                  </a:rPr>
                  <a:t> </a:t>
                </a:r>
              </a:p>
            </p:txBody>
          </p:sp>
        </mc:Fallback>
      </mc:AlternateContent>
      <p:sp>
        <p:nvSpPr>
          <p:cNvPr id="16" name="object 16">
            <a:extLst>
              <a:ext uri="{FF2B5EF4-FFF2-40B4-BE49-F238E27FC236}">
                <a16:creationId xmlns:a16="http://schemas.microsoft.com/office/drawing/2014/main" id="{8266F13B-05F1-81DE-B638-66D10EEB9FA2}"/>
              </a:ext>
            </a:extLst>
          </p:cNvPr>
          <p:cNvSpPr txBox="1">
            <a:spLocks/>
          </p:cNvSpPr>
          <p:nvPr/>
        </p:nvSpPr>
        <p:spPr>
          <a:xfrm>
            <a:off x="152400" y="53412"/>
            <a:ext cx="2438400" cy="327588"/>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1050" kern="0" dirty="0"/>
              <a:t>Learning outcome #6a – Effect of K </a:t>
            </a:r>
          </a:p>
          <a:p>
            <a:pPr marL="12700">
              <a:spcBef>
                <a:spcPts val="100"/>
              </a:spcBef>
            </a:pPr>
            <a:r>
              <a:rPr lang="en-US" sz="900" b="0" kern="0" spc="-5" dirty="0">
                <a:latin typeface="+mj-lt"/>
                <a:cs typeface="Lucida Sans"/>
              </a:rPr>
              <a:t>Change K value between 0.1 and 0.9 in steps of 0.1</a:t>
            </a:r>
          </a:p>
        </p:txBody>
      </p:sp>
      <p:pic>
        <p:nvPicPr>
          <p:cNvPr id="4" name="Imagen 3">
            <a:extLst>
              <a:ext uri="{FF2B5EF4-FFF2-40B4-BE49-F238E27FC236}">
                <a16:creationId xmlns:a16="http://schemas.microsoft.com/office/drawing/2014/main" id="{5DEE8428-175C-B36D-8AEF-44B8B1742CDD}"/>
              </a:ext>
            </a:extLst>
          </p:cNvPr>
          <p:cNvPicPr>
            <a:picLocks noChangeAspect="1"/>
          </p:cNvPicPr>
          <p:nvPr/>
        </p:nvPicPr>
        <p:blipFill>
          <a:blip r:embed="rId3"/>
          <a:stretch>
            <a:fillRect/>
          </a:stretch>
        </p:blipFill>
        <p:spPr>
          <a:xfrm>
            <a:off x="152400" y="4575138"/>
            <a:ext cx="3172268" cy="2076740"/>
          </a:xfrm>
          <a:prstGeom prst="rect">
            <a:avLst/>
          </a:prstGeom>
        </p:spPr>
      </p:pic>
      <p:pic>
        <p:nvPicPr>
          <p:cNvPr id="17" name="Imagen 16">
            <a:extLst>
              <a:ext uri="{FF2B5EF4-FFF2-40B4-BE49-F238E27FC236}">
                <a16:creationId xmlns:a16="http://schemas.microsoft.com/office/drawing/2014/main" id="{A1E26BA1-CF35-F328-113F-C6E2A44192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2400" y="457200"/>
            <a:ext cx="5410200" cy="4041738"/>
          </a:xfrm>
          <a:prstGeom prst="rect">
            <a:avLst/>
          </a:prstGeom>
        </p:spPr>
      </p:pic>
      <p:pic>
        <p:nvPicPr>
          <p:cNvPr id="19" name="Imagen 18">
            <a:extLst>
              <a:ext uri="{FF2B5EF4-FFF2-40B4-BE49-F238E27FC236}">
                <a16:creationId xmlns:a16="http://schemas.microsoft.com/office/drawing/2014/main" id="{C7496AD3-9B3A-FC4A-BB14-D9EBFA7E8D2F}"/>
              </a:ext>
            </a:extLst>
          </p:cNvPr>
          <p:cNvPicPr>
            <a:picLocks noChangeAspect="1"/>
          </p:cNvPicPr>
          <p:nvPr/>
        </p:nvPicPr>
        <p:blipFill>
          <a:blip r:embed="rId5"/>
          <a:stretch>
            <a:fillRect/>
          </a:stretch>
        </p:blipFill>
        <p:spPr>
          <a:xfrm>
            <a:off x="3505200" y="5265797"/>
            <a:ext cx="2695951" cy="695422"/>
          </a:xfrm>
          <a:prstGeom prst="rect">
            <a:avLst/>
          </a:prstGeom>
        </p:spPr>
      </p:pic>
    </p:spTree>
    <p:extLst>
      <p:ext uri="{BB962C8B-B14F-4D97-AF65-F5344CB8AC3E}">
        <p14:creationId xmlns:p14="http://schemas.microsoft.com/office/powerpoint/2010/main" val="19316252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número de diapositiva 5">
            <a:extLst>
              <a:ext uri="{FF2B5EF4-FFF2-40B4-BE49-F238E27FC236}">
                <a16:creationId xmlns:a16="http://schemas.microsoft.com/office/drawing/2014/main" id="{8E91A34C-DF76-97CF-3EFD-546BC64A2184}"/>
              </a:ext>
            </a:extLst>
          </p:cNvPr>
          <p:cNvSpPr>
            <a:spLocks noGrp="1"/>
          </p:cNvSpPr>
          <p:nvPr>
            <p:ph type="sldNum" sz="quarter" idx="7"/>
          </p:nvPr>
        </p:nvSpPr>
        <p:spPr/>
        <p:txBody>
          <a:bodyPr/>
          <a:lstStyle/>
          <a:p>
            <a:fld id="{C2F52289-4012-4053-9770-FE82CEB9514F}" type="slidenum">
              <a:rPr lang="en-US" smtClean="0"/>
              <a:pPr/>
              <a:t>10</a:t>
            </a:fld>
            <a:endParaRPr lang="en-US" dirty="0"/>
          </a:p>
        </p:txBody>
      </p:sp>
      <p:sp>
        <p:nvSpPr>
          <p:cNvPr id="8" name="CuadroTexto 7">
            <a:extLst>
              <a:ext uri="{FF2B5EF4-FFF2-40B4-BE49-F238E27FC236}">
                <a16:creationId xmlns:a16="http://schemas.microsoft.com/office/drawing/2014/main" id="{D9601617-351E-AE1A-1F4D-693F2EA59361}"/>
              </a:ext>
            </a:extLst>
          </p:cNvPr>
          <p:cNvSpPr txBox="1"/>
          <p:nvPr/>
        </p:nvSpPr>
        <p:spPr>
          <a:xfrm>
            <a:off x="6858000" y="253186"/>
            <a:ext cx="4723959" cy="6124754"/>
          </a:xfrm>
          <a:prstGeom prst="rect">
            <a:avLst/>
          </a:prstGeom>
          <a:solidFill>
            <a:schemeClr val="bg1">
              <a:lumMod val="95000"/>
            </a:schemeClr>
          </a:solidFill>
          <a:ln w="28575">
            <a:solidFill>
              <a:srgbClr val="E0700D"/>
            </a:solidFill>
          </a:ln>
        </p:spPr>
        <p:txBody>
          <a:bodyPr wrap="square" rtlCol="0">
            <a:spAutoFit/>
          </a:bodyPr>
          <a:lstStyle/>
          <a:p>
            <a:pPr algn="just"/>
            <a:r>
              <a:rPr lang="es-ES" sz="1400" dirty="0">
                <a:latin typeface="Times New Roman" panose="02020603050405020304" pitchFamily="18" charset="0"/>
                <a:cs typeface="Times New Roman" panose="02020603050405020304" pitchFamily="18" charset="0"/>
              </a:rPr>
              <a:t>En este </a:t>
            </a:r>
            <a:r>
              <a:rPr lang="es-ES" sz="1400" dirty="0" err="1">
                <a:latin typeface="Times New Roman" panose="02020603050405020304" pitchFamily="18" charset="0"/>
                <a:cs typeface="Times New Roman" panose="02020603050405020304" pitchFamily="18" charset="0"/>
              </a:rPr>
              <a:t>útltimo</a:t>
            </a:r>
            <a:r>
              <a:rPr lang="es-ES" sz="1400" dirty="0">
                <a:latin typeface="Times New Roman" panose="02020603050405020304" pitchFamily="18" charset="0"/>
                <a:cs typeface="Times New Roman" panose="02020603050405020304" pitchFamily="18" charset="0"/>
              </a:rPr>
              <a:t> ejercicio se analiza el efecto de las pérdidas de propagación, manteniendo constante el coeficiente de acoplo K = 0.5 y el </a:t>
            </a:r>
            <a:r>
              <a:rPr lang="es-ES" sz="1400" dirty="0" err="1">
                <a:latin typeface="Times New Roman" panose="02020603050405020304" pitchFamily="18" charset="0"/>
                <a:cs typeface="Times New Roman" panose="02020603050405020304" pitchFamily="18" charset="0"/>
              </a:rPr>
              <a:t>L_ring</a:t>
            </a:r>
            <a:r>
              <a:rPr lang="es-ES" sz="1400" dirty="0">
                <a:latin typeface="Times New Roman" panose="02020603050405020304" pitchFamily="18" charset="0"/>
                <a:cs typeface="Times New Roman" panose="02020603050405020304" pitchFamily="18" charset="0"/>
              </a:rPr>
              <a:t>.</a:t>
            </a:r>
          </a:p>
          <a:p>
            <a:pPr algn="just"/>
            <a:endParaRPr lang="es-ES" sz="1400" dirty="0">
              <a:latin typeface="Times New Roman" panose="02020603050405020304" pitchFamily="18" charset="0"/>
              <a:cs typeface="Times New Roman" panose="02020603050405020304" pitchFamily="18" charset="0"/>
            </a:endParaRPr>
          </a:p>
          <a:p>
            <a:pPr algn="just"/>
            <a:r>
              <a:rPr lang="es-ES" sz="1400" dirty="0">
                <a:latin typeface="Times New Roman" panose="02020603050405020304" pitchFamily="18" charset="0"/>
                <a:cs typeface="Times New Roman" panose="02020603050405020304" pitchFamily="18" charset="0"/>
              </a:rPr>
              <a:t>Al aumentar la pérdida α desde 0 hasta 8 dB/cm, la posición de las resonancias prácticamente no cambia, ya que el FSR depende del índice de grupo y del </a:t>
            </a:r>
            <a:r>
              <a:rPr lang="es-ES" sz="1400" dirty="0" err="1">
                <a:latin typeface="Times New Roman" panose="02020603050405020304" pitchFamily="18" charset="0"/>
                <a:cs typeface="Times New Roman" panose="02020603050405020304" pitchFamily="18" charset="0"/>
              </a:rPr>
              <a:t>L_ring</a:t>
            </a:r>
            <a:r>
              <a:rPr lang="es-ES" sz="1400" dirty="0">
                <a:latin typeface="Times New Roman" panose="02020603050405020304" pitchFamily="18" charset="0"/>
                <a:cs typeface="Times New Roman" panose="02020603050405020304" pitchFamily="18" charset="0"/>
              </a:rPr>
              <a:t>. Sin embargo, sí cambia la profundidad de los </a:t>
            </a:r>
            <a:r>
              <a:rPr lang="es-ES" sz="1400" dirty="0" err="1">
                <a:latin typeface="Times New Roman" panose="02020603050405020304" pitchFamily="18" charset="0"/>
                <a:cs typeface="Times New Roman" panose="02020603050405020304" pitchFamily="18" charset="0"/>
              </a:rPr>
              <a:t>dips</a:t>
            </a:r>
            <a:r>
              <a:rPr lang="es-ES" sz="1400" dirty="0">
                <a:latin typeface="Times New Roman" panose="02020603050405020304" pitchFamily="18" charset="0"/>
                <a:cs typeface="Times New Roman" panose="02020603050405020304" pitchFamily="18" charset="0"/>
              </a:rPr>
              <a:t>.</a:t>
            </a:r>
          </a:p>
          <a:p>
            <a:pPr algn="just"/>
            <a:r>
              <a:rPr lang="es-ES" sz="1400" dirty="0">
                <a:latin typeface="Times New Roman" panose="02020603050405020304" pitchFamily="18" charset="0"/>
                <a:cs typeface="Times New Roman" panose="02020603050405020304" pitchFamily="18" charset="0"/>
              </a:rPr>
              <a:t>Para α = 0 dB/cm, el anillo no presenta pérdidas internas y la respuesta en el puerto </a:t>
            </a:r>
            <a:r>
              <a:rPr lang="es-ES" sz="1400" dirty="0" err="1">
                <a:latin typeface="Times New Roman" panose="02020603050405020304" pitchFamily="18" charset="0"/>
                <a:cs typeface="Times New Roman" panose="02020603050405020304" pitchFamily="18" charset="0"/>
              </a:rPr>
              <a:t>through</a:t>
            </a:r>
            <a:r>
              <a:rPr lang="es-ES" sz="1400" dirty="0">
                <a:latin typeface="Times New Roman" panose="02020603050405020304" pitchFamily="18" charset="0"/>
                <a:cs typeface="Times New Roman" panose="02020603050405020304" pitchFamily="18" charset="0"/>
              </a:rPr>
              <a:t> es prácticamente </a:t>
            </a:r>
            <a:r>
              <a:rPr lang="es-ES" sz="1400" dirty="0" err="1">
                <a:latin typeface="Times New Roman" panose="02020603050405020304" pitchFamily="18" charset="0"/>
                <a:cs typeface="Times New Roman" panose="02020603050405020304" pitchFamily="18" charset="0"/>
              </a:rPr>
              <a:t>all-pass</a:t>
            </a:r>
            <a:r>
              <a:rPr lang="es-ES" sz="1400" dirty="0">
                <a:latin typeface="Times New Roman" panose="02020603050405020304" pitchFamily="18" charset="0"/>
                <a:cs typeface="Times New Roman" panose="02020603050405020304" pitchFamily="18" charset="0"/>
              </a:rPr>
              <a:t>, por lo que no aparece una caída. Al aumentar α, aparece una pequeña atenuación interna en el anillo y los mínimos de resonancia se van haciendo más profundos.</a:t>
            </a:r>
          </a:p>
          <a:p>
            <a:pPr algn="just"/>
            <a:r>
              <a:rPr lang="es-ES" sz="1400" dirty="0">
                <a:latin typeface="Times New Roman" panose="02020603050405020304" pitchFamily="18" charset="0"/>
                <a:cs typeface="Times New Roman" panose="02020603050405020304" pitchFamily="18" charset="0"/>
              </a:rPr>
              <a:t>El </a:t>
            </a:r>
            <a:r>
              <a:rPr lang="es-ES" sz="1400" dirty="0" err="1">
                <a:latin typeface="Times New Roman" panose="02020603050405020304" pitchFamily="18" charset="0"/>
                <a:cs typeface="Times New Roman" panose="02020603050405020304" pitchFamily="18" charset="0"/>
              </a:rPr>
              <a:t>extinction</a:t>
            </a:r>
            <a:r>
              <a:rPr lang="es-ES" sz="1400" dirty="0">
                <a:latin typeface="Times New Roman" panose="02020603050405020304" pitchFamily="18" charset="0"/>
                <a:cs typeface="Times New Roman" panose="02020603050405020304" pitchFamily="18" charset="0"/>
              </a:rPr>
              <a:t> ratio aumenta ligeramente con la pérdida, pasando de 0 dB para α = 0 dB/cm a aproximadamente 0.36 dB para α = 8 dB/cm. Sin embargo, las resonancias siguen siendo poco profundas.</a:t>
            </a:r>
          </a:p>
          <a:p>
            <a:pPr algn="just"/>
            <a:endParaRPr lang="es-ES" sz="1400" dirty="0">
              <a:latin typeface="Times New Roman" panose="02020603050405020304" pitchFamily="18" charset="0"/>
              <a:cs typeface="Times New Roman" panose="02020603050405020304" pitchFamily="18" charset="0"/>
            </a:endParaRPr>
          </a:p>
          <a:p>
            <a:pPr algn="just"/>
            <a:r>
              <a:rPr lang="es-ES" sz="1400" dirty="0">
                <a:latin typeface="Times New Roman" panose="02020603050405020304" pitchFamily="18" charset="0"/>
                <a:cs typeface="Times New Roman" panose="02020603050405020304" pitchFamily="18" charset="0"/>
              </a:rPr>
              <a:t>El acoplo crítico se alcanza cuando las pérdidas de acoplo igualan las pérdidas internas del anillo. Para este caso, el valor de </a:t>
            </a:r>
            <a:r>
              <a:rPr lang="es-ES" sz="1400" dirty="0" err="1">
                <a:latin typeface="Times New Roman" panose="02020603050405020304" pitchFamily="18" charset="0"/>
                <a:cs typeface="Times New Roman" panose="02020603050405020304" pitchFamily="18" charset="0"/>
              </a:rPr>
              <a:t>Kcrit</a:t>
            </a:r>
            <a:r>
              <a:rPr lang="es-ES" sz="1400" dirty="0">
                <a:latin typeface="Times New Roman" panose="02020603050405020304" pitchFamily="18" charset="0"/>
                <a:cs typeface="Times New Roman" panose="02020603050405020304" pitchFamily="18" charset="0"/>
              </a:rPr>
              <a:t> calculado permanece muy por debajo de K = 0.5. Incluso para α = 8 dB/cm, se obtiene </a:t>
            </a:r>
            <a:r>
              <a:rPr lang="es-ES" sz="1400" dirty="0" err="1">
                <a:latin typeface="Times New Roman" panose="02020603050405020304" pitchFamily="18" charset="0"/>
                <a:cs typeface="Times New Roman" panose="02020603050405020304" pitchFamily="18" charset="0"/>
              </a:rPr>
              <a:t>Kcrit</a:t>
            </a:r>
            <a:r>
              <a:rPr lang="es-ES" sz="1400" dirty="0">
                <a:latin typeface="Times New Roman" panose="02020603050405020304" pitchFamily="18" charset="0"/>
                <a:cs typeface="Times New Roman" panose="02020603050405020304" pitchFamily="18" charset="0"/>
              </a:rPr>
              <a:t> ≈ 0.0146. Por tanto, aunque α = 8 dB/cm es el caso más cercano dentro del rango simulado, el anillo no alcanza realmente el </a:t>
            </a:r>
            <a:r>
              <a:rPr lang="es-ES" sz="1400" dirty="0" err="1">
                <a:latin typeface="Times New Roman" panose="02020603050405020304" pitchFamily="18" charset="0"/>
                <a:cs typeface="Times New Roman" panose="02020603050405020304" pitchFamily="18" charset="0"/>
              </a:rPr>
              <a:t>critical</a:t>
            </a:r>
            <a:r>
              <a:rPr lang="es-ES" sz="1400" dirty="0">
                <a:latin typeface="Times New Roman" panose="02020603050405020304" pitchFamily="18" charset="0"/>
                <a:cs typeface="Times New Roman" panose="02020603050405020304" pitchFamily="18" charset="0"/>
              </a:rPr>
              <a:t> </a:t>
            </a:r>
            <a:r>
              <a:rPr lang="es-ES" sz="1400" dirty="0" err="1">
                <a:latin typeface="Times New Roman" panose="02020603050405020304" pitchFamily="18" charset="0"/>
                <a:cs typeface="Times New Roman" panose="02020603050405020304" pitchFamily="18" charset="0"/>
              </a:rPr>
              <a:t>coupling</a:t>
            </a:r>
            <a:r>
              <a:rPr lang="es-ES" sz="1400" dirty="0">
                <a:latin typeface="Times New Roman" panose="02020603050405020304" pitchFamily="18" charset="0"/>
                <a:cs typeface="Times New Roman" panose="02020603050405020304" pitchFamily="18" charset="0"/>
              </a:rPr>
              <a:t>.</a:t>
            </a:r>
          </a:p>
          <a:p>
            <a:pPr algn="just"/>
            <a:endParaRPr lang="es-ES" sz="1400" dirty="0">
              <a:latin typeface="Times New Roman" panose="02020603050405020304" pitchFamily="18" charset="0"/>
              <a:cs typeface="Times New Roman" panose="02020603050405020304" pitchFamily="18" charset="0"/>
            </a:endParaRPr>
          </a:p>
          <a:p>
            <a:pPr algn="just"/>
            <a:r>
              <a:rPr lang="es-ES" sz="1400" dirty="0">
                <a:latin typeface="Times New Roman" panose="02020603050405020304" pitchFamily="18" charset="0"/>
                <a:cs typeface="Times New Roman" panose="02020603050405020304" pitchFamily="18" charset="0"/>
              </a:rPr>
              <a:t>En consecuencia, para todas las pérdidas simuladas el anillo permanece en régimen </a:t>
            </a:r>
            <a:r>
              <a:rPr lang="es-ES" sz="1400" dirty="0" err="1">
                <a:latin typeface="Times New Roman" panose="02020603050405020304" pitchFamily="18" charset="0"/>
                <a:cs typeface="Times New Roman" panose="02020603050405020304" pitchFamily="18" charset="0"/>
              </a:rPr>
              <a:t>sobreacoplado</a:t>
            </a:r>
            <a:r>
              <a:rPr lang="es-ES" sz="1400" dirty="0">
                <a:latin typeface="Times New Roman" panose="02020603050405020304" pitchFamily="18" charset="0"/>
                <a:cs typeface="Times New Roman" panose="02020603050405020304" pitchFamily="18" charset="0"/>
              </a:rPr>
              <a:t>, ya que K = 0.5 es mucho mayor que </a:t>
            </a:r>
            <a:r>
              <a:rPr lang="es-ES" sz="1400" dirty="0" err="1">
                <a:latin typeface="Times New Roman" panose="02020603050405020304" pitchFamily="18" charset="0"/>
                <a:cs typeface="Times New Roman" panose="02020603050405020304" pitchFamily="18" charset="0"/>
              </a:rPr>
              <a:t>Kcrit</a:t>
            </a:r>
            <a:r>
              <a:rPr lang="es-ES" sz="1400" dirty="0">
                <a:latin typeface="Times New Roman" panose="02020603050405020304" pitchFamily="18" charset="0"/>
                <a:cs typeface="Times New Roman" panose="02020603050405020304" pitchFamily="18" charset="0"/>
              </a:rPr>
              <a:t>.</a:t>
            </a:r>
            <a:endParaRPr lang="en-US" sz="1200" dirty="0">
              <a:latin typeface="Arial" panose="020B0604020202020204" pitchFamily="34" charset="0"/>
              <a:cs typeface="Arial" panose="020B0604020202020204" pitchFamily="34" charset="0"/>
            </a:endParaRPr>
          </a:p>
        </p:txBody>
      </p:sp>
      <p:sp>
        <p:nvSpPr>
          <p:cNvPr id="18" name="object 16">
            <a:extLst>
              <a:ext uri="{FF2B5EF4-FFF2-40B4-BE49-F238E27FC236}">
                <a16:creationId xmlns:a16="http://schemas.microsoft.com/office/drawing/2014/main" id="{989133D6-A9B3-EFEA-2703-51A6BDA0A885}"/>
              </a:ext>
            </a:extLst>
          </p:cNvPr>
          <p:cNvSpPr txBox="1">
            <a:spLocks/>
          </p:cNvSpPr>
          <p:nvPr/>
        </p:nvSpPr>
        <p:spPr>
          <a:xfrm>
            <a:off x="152400" y="21484"/>
            <a:ext cx="3886200" cy="120546"/>
          </a:xfrm>
          <a:prstGeom prst="rect">
            <a:avLst/>
          </a:prstGeom>
        </p:spPr>
        <p:txBody>
          <a:bodyPr vert="horz" wrap="square" lIns="0" tIns="12700" rIns="0" bIns="0" rtlCol="0">
            <a:spAutoFit/>
          </a:bodyPr>
          <a:lstStyle>
            <a:lvl1pPr>
              <a:defRPr sz="2000" b="1" i="0">
                <a:solidFill>
                  <a:schemeClr val="tx1"/>
                </a:solidFill>
                <a:latin typeface="Calibri"/>
                <a:ea typeface="+mj-ea"/>
                <a:cs typeface="Calibri"/>
              </a:defRPr>
            </a:lvl1pPr>
          </a:lstStyle>
          <a:p>
            <a:pPr marL="12700">
              <a:spcBef>
                <a:spcPts val="100"/>
              </a:spcBef>
            </a:pPr>
            <a:r>
              <a:rPr lang="en-US" sz="700" kern="0" dirty="0"/>
              <a:t>Learning outcome #6b – E</a:t>
            </a:r>
            <a:r>
              <a:rPr lang="en-US" sz="700" dirty="0"/>
              <a:t>ffect of loss </a:t>
            </a:r>
            <a:r>
              <a:rPr lang="en-US" sz="500" b="0" kern="0" spc="-5" dirty="0">
                <a:latin typeface="+mj-lt"/>
                <a:cs typeface="Lucida Sans"/>
              </a:rPr>
              <a:t>Change losses value between 0 and 8 </a:t>
            </a:r>
            <a:r>
              <a:rPr lang="en-US" sz="500" b="0" kern="0" spc="-5" dirty="0">
                <a:solidFill>
                  <a:srgbClr val="FF0000"/>
                </a:solidFill>
                <a:latin typeface="+mj-lt"/>
                <a:cs typeface="Lucida Sans"/>
              </a:rPr>
              <a:t>dB/cm </a:t>
            </a:r>
            <a:r>
              <a:rPr lang="en-US" sz="500" b="0" kern="0" spc="-5" dirty="0">
                <a:latin typeface="+mj-lt"/>
                <a:cs typeface="Lucida Sans"/>
              </a:rPr>
              <a:t>in steps of 1</a:t>
            </a:r>
          </a:p>
        </p:txBody>
      </p:sp>
      <p:pic>
        <p:nvPicPr>
          <p:cNvPr id="3" name="Imagen 2">
            <a:extLst>
              <a:ext uri="{FF2B5EF4-FFF2-40B4-BE49-F238E27FC236}">
                <a16:creationId xmlns:a16="http://schemas.microsoft.com/office/drawing/2014/main" id="{DF983268-5B5E-6499-D91A-B26E6A6A8E78}"/>
              </a:ext>
            </a:extLst>
          </p:cNvPr>
          <p:cNvPicPr>
            <a:picLocks noChangeAspect="1"/>
          </p:cNvPicPr>
          <p:nvPr/>
        </p:nvPicPr>
        <p:blipFill>
          <a:blip r:embed="rId2"/>
          <a:stretch>
            <a:fillRect/>
          </a:stretch>
        </p:blipFill>
        <p:spPr>
          <a:xfrm>
            <a:off x="1295400" y="4798277"/>
            <a:ext cx="3775159" cy="1893748"/>
          </a:xfrm>
          <a:prstGeom prst="rect">
            <a:avLst/>
          </a:prstGeom>
        </p:spPr>
      </p:pic>
      <p:pic>
        <p:nvPicPr>
          <p:cNvPr id="7" name="Imagen 6">
            <a:extLst>
              <a:ext uri="{FF2B5EF4-FFF2-40B4-BE49-F238E27FC236}">
                <a16:creationId xmlns:a16="http://schemas.microsoft.com/office/drawing/2014/main" id="{316E7619-E990-1467-E03C-79AE80F456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183047"/>
            <a:ext cx="6079160" cy="4541490"/>
          </a:xfrm>
          <a:prstGeom prst="rect">
            <a:avLst/>
          </a:prstGeom>
        </p:spPr>
      </p:pic>
    </p:spTree>
    <p:extLst>
      <p:ext uri="{BB962C8B-B14F-4D97-AF65-F5344CB8AC3E}">
        <p14:creationId xmlns:p14="http://schemas.microsoft.com/office/powerpoint/2010/main" val="14611966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11</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1661</TotalTime>
  <Words>2051</Words>
  <Application>Microsoft Office PowerPoint</Application>
  <PresentationFormat>Panorámica</PresentationFormat>
  <Paragraphs>129</Paragraphs>
  <Slides>11</Slides>
  <Notes>2</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11</vt:i4>
      </vt:variant>
    </vt:vector>
  </HeadingPairs>
  <TitlesOfParts>
    <vt:vector size="19" baseType="lpstr">
      <vt:lpstr>Aptos</vt:lpstr>
      <vt:lpstr>Arial</vt:lpstr>
      <vt:lpstr>Calibri</vt:lpstr>
      <vt:lpstr>Cambria Math</vt:lpstr>
      <vt:lpstr>Lucida Sans</vt:lpstr>
      <vt:lpstr>Times New Roman</vt:lpstr>
      <vt:lpstr>Wingdings</vt:lpstr>
      <vt:lpstr>Office Theme</vt:lpstr>
      <vt:lpstr>Presentación de PowerPoint</vt:lpstr>
      <vt:lpstr>Instructions General</vt:lpstr>
      <vt:lpstr>Learning outcome #1a – Perfectly balanced MZI </vt:lpstr>
      <vt:lpstr>Learning outcome #1b – Unbalanced MZI </vt:lpstr>
      <vt:lpstr>Presentación de PowerPoint</vt:lpstr>
      <vt:lpstr>Presentación de PowerPoint</vt:lpstr>
      <vt:lpstr>Presentación de PowerPoint</vt:lpstr>
      <vt:lpstr>Presentación de PowerPoint</vt:lpstr>
      <vt:lpstr>Presentación de PowerPoint</vt:lpstr>
      <vt:lpstr>Presentación de PowerPoint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Manuel Burgos Sanchez</cp:lastModifiedBy>
  <cp:revision>32</cp:revision>
  <dcterms:created xsi:type="dcterms:W3CDTF">2025-01-27T02:46:57Z</dcterms:created>
  <dcterms:modified xsi:type="dcterms:W3CDTF">2026-05-19T19:04:06Z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